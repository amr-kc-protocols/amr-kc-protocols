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4: Vent Vocabulary &amp; Initial Settings. The eight numbers every vented patient has. IBW math, the ARDSNet history, and how to defend any setting you turn.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 of the module. Teach the lessons in order, then run the four interactive components on learner devices.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Tidal volume is the volume the ventilator delivers with each mandatory breath, measured in milliliters.
Modern adult target: 6 to 8 mL per kilogram of IDEAL body weight. Lower (4 to 6 mL/kg IBW) for ARDS. Pediatric: 6 to 8 mL/kg of ACTUAL body weight.
History matters. The 1990s standard was 10 to 12 mL/kg. ARDSNet ARMA (NEJM 2000) randomized 861 ARDS patients to 12 vs 6 mL/kg IBW. Mortality dropped from 39.8% to 31.0% (NNT 11). One of the most evidence-based interventions in critical care.
Too low: dead space eats the breath; CO₂ rises despite normal-looking MV. Too high: alveolar over-distention, volutrauma. Always use IBW, not actual.
EVIDENCE — ARDSNet ARMA, NEJM 2000: Randomized 861 ARDS patients to 12 mL/kg vs 6 mL/kg IBW. Mortality 39.8% vs 31.0%. NNT 11. The trial also kept Pplat &lt; 30 and paired PEEP with FiO₂.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Respiratory rate is the number of mandatory breaths per minute the vent delivers. Adult initial: 12 to 16, titrated to EtCO₂ 35 to 45.
Lower (8 to 10) for asthma/COPD — let them exhale. Higher (18 to 22) in ARDS where Vt is reduced.
Minute ventilation (MV) = RR × Vt. Adult target 6 to 8 L/min. For a 70 kg IBW adult: Vt 480 mL × RR 14 = 6.7 L/min, right in range.
Set the LOW MV alarm at ~70% of expected MV. The apnea alarm fires after 20 seconds of no breath — by then the patient has been failing for a while.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FiO₂ is the fraction of oxygen in the inspired gas. Range 0.21 (room air) to 1.00 (100%). Start at 100% on every fresh intubation; wean.
Target SpO₂ ≥ 92% (adult), ≥ 88% (COPD per GOLD), ≥ 94% (TBI per BTF). Hyperoxia post-ROSC worsens neurologic outcome — AHA recommends SpO₂ 90–98% after cardiac arrest (2025 update; previously 92–98%). Oxygen is a drug, not a vital sign.
PEEP is the pressure remaining in airways at end-exhalation. Adult default 5 cmH₂O. ARDS uses 10–15 cmH₂O paired with FiO₂ per the ARDSNet table.
PEEP recruits collapsed alveoli — the fix for shunt physiology. It also reduces preload, which can drop BP in volume-depleted patients. Pair PEEP with FiO₂ together, not separately.
PEARL — FiO₂ alone won't fix shunt: Patient on 100% FiO₂ and saturation barely moves? It's a shunt. The bedside fix is PEEP — usually via CPAP in awake patients.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I:E is the ratio of inspiratory time to expiratory time. Adult default is 1:2 — inspiration takes half as long as exhalation.
In obstructive disease (asthma, COPD), set 1:4 or 1:5. Let the patient exhale. Forcing the rate up traps gas (auto-PEEP), drops blood pressure, and risks barotrauma.
On the LTV: you set inspiratory TIME in seconds (typically 1.0 to 1.2 in adults). The screen calculates the I:E.
Watch the expiratory flow waveform. If it doesn't return to zero before the next breath starts, you have auto-PEEP. Slow the rate and lengthen exhalation.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Peak Inspiratory Pressure (PIP): highest airway pressure during inspiration. Displayed continuously. Keep &lt; 35 cmH₂O.
Plateau Pressure (Pplat): airway pressure during a 0.5-second inspiratory hold (no flow). Reflects alveolar pressure / compliance. Keep &lt; 30 cmH₂O — ARDSNet protocol. Press and hold the inspiratory hold button on the LTV to measure.
Math: PIP ≈ Pplat + (Resistance × Flow). High PIP + normal Pplat = AIRWAY problem (resistance). Both high = LUNG problem (compliance).
Driving pressure (ΔP) = Pplat − PEEP. Amato et al. (NEJM 2015) reanalyzed nine ARDS RCTs and showed ΔP was the strongest mortality predictor. Each 7 cmH₂O rise increased mortality ~40%. Target ΔP &lt; 14 cmH₂O in ARDS.
EVIDENCE — Amato 2015 driving pressure: Pplat − PEEP &lt; 14 cmH₂O is the modern ARDS target. Stronger mortality predictor than Vt, Pplat, or PEEP individually.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Devine IBW formulas. Men: 50 + 2.3 × (inches over 60). Women: 45.5 + 2.3 × (inches over 60).
Examples. 5'6" man: 50 + 2.3 × 6 = 63.8 kg → safe Vt 380–510 mL. 5'10" woman: 45.5 + 2.3 × 10 = 68.5 kg → safe Vt 410–548 mL.
Safe adult defaults to defend: AC/VC mode; Vt 6–8 mL/kg IBW; RR 14, titrated to EtCO₂ 35–45; FiO₂ 100% then wean; PEEP 5; I:E 1:2; alarms PIP 35, low MV 4, low PEEP 3, apnea 20 sec.
When in doubt, return to defaults. Change ONE thing at a time, reassess in 30 seconds, and document with vitals before and after.
PEARL — 5'10" rule of thumb: 5'10" adult ≈ 73 kg IBW → Vt 440–580 mL. Memorize this anchor for when you don't have a card handy.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slide: send learners to the app for this module's quiz, match, scenario, then the simulator mission. Keep the cohort together; modules unlock in sequence.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the module pearls, then transition.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A6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80960" y="-548640"/>
            <a:ext cx="4754880" cy="7680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0000" b="1" dirty="0">
                <a:solidFill>
                  <a:srgbClr val="1B63C4">
                    <a:alpha val="22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VENTILATOR TRAINING ACADEMY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Vent Vocabulary &amp; Initial Settings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48640" y="416052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eight numbers every vented patient has. IBW math, the ARDSNet history, and how to defend any setting you turn.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58064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Foundations</a:t>
            </a:r>
            <a:pPr indent="0" marL="0">
              <a:buNone/>
            </a:pPr>
            <a:r>
              <a:rPr lang="en-US" sz="1300" dirty="0">
                <a:solidFill>
                  <a:srgbClr val="8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~50 min   ·   6 lessons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6309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Jordan Hunter Jones, NRP · Course Director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module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463040" y="150876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Tidal Volume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Vt — How Much Air Per Breath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2395728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63040" y="2350008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Respiratory Rate &amp; Minute Ventilation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3236976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63040" y="3191256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Oxygenation Knobs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FiO₂ and PEEP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55080" y="1554480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69480" y="150876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I:E Ratio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55080" y="2395728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69480" y="2350008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Pressures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PIP, Pplat, and Driving Pressure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55080" y="3236976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269480" y="3191256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Defaults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IBW Math and Safe Initial Settings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" y="617220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34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Check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520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806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B4690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092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1C7D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Simulator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 · Tidal Volume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Vt — How Much Air Per Breath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63093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Tidal volume is the volume the ventilator delivers with each mandatory breath, measured in milliliters.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adult target: 6 to 8 mL per kilogram of IDEAL body weight.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matters.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low: dead space eats the breath; CO₂ rises despite normal-looking MV.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315200" y="2148840"/>
            <a:ext cx="4325112" cy="3840480"/>
          </a:xfrm>
          <a:prstGeom prst="roundRect">
            <a:avLst>
              <a:gd name="adj" fmla="val 2381"/>
            </a:avLst>
          </a:prstGeom>
          <a:solidFill>
            <a:srgbClr val="E7F0FD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0" y="2377440"/>
            <a:ext cx="3776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0" y="2715768"/>
            <a:ext cx="37764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ARDSNet ARMA, NEJM 2000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589520" y="3474720"/>
            <a:ext cx="377647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Randomized 861 ARDS patients to 12 mL/kg vs 6 mL/kg IBW. Mortality 39.8% vs 31.0%. NNT 11. The trial also kept Pplat &lt; 30 and paired PEEP with FiO₂.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 · Rate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Respiratory Rate &amp; Minute Ventilation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00584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Respiratory rate is the number of mandatory breaths per minute the vent delivers.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(8 to 10) for asthma/COPD — let them exhale.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 ventilation (MV) = RR × Vt.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LOW MV alarm at ~70% of expected MV.</a:t>
            </a:r>
            <a:endParaRPr lang="en-US" sz="1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 · Oxygenation Knobs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FiO₂ and PEEP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63093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FiO₂ is the fraction of oxygen in the inspired gas.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SpO₂ ≥ 92% (adult), ≥ 88% (COPD per GOLD), ≥ 94% (TBI per BTF).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PEEP is the pressure remaining in airways at end-exhalation.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PEEP recruits collapsed alveoli — the fix for shunt physiology.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315200" y="2148840"/>
            <a:ext cx="4325112" cy="3840480"/>
          </a:xfrm>
          <a:prstGeom prst="roundRect">
            <a:avLst>
              <a:gd name="adj" fmla="val 2381"/>
            </a:avLst>
          </a:prstGeom>
          <a:solidFill>
            <a:srgbClr val="FBEFDD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0" y="2377440"/>
            <a:ext cx="3776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C5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PEARL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0" y="2715768"/>
            <a:ext cx="37764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FiO₂ alone won't fix shunt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589520" y="3474720"/>
            <a:ext cx="377647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on 100% FiO₂ and saturation barely moves? It's a shunt. The bedside fix is PEEP — usually via CPAP in awake patients.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 · Timing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I:E Ratio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00584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I:E is the ratio of inspiratory time to expiratory time.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obstructive disease (asthma, COPD), set 1:4 or 1:5.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LTV: you set inspiratory TIME in seconds (typically 1.0 to 1.2 in adults).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expiratory flow waveform.</a:t>
            </a:r>
            <a:endParaRPr lang="en-US" sz="1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 · Pressures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PIP, Pplat, and Driving Pressure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63093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Inspiratory Pressure (PIP): highest airway pressure during inspiration.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Plateau Pressure (Pplat): airway pressure during a 0.5-second inspiratory hold (no flow).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Math: PIP ≈ Pplat + (Resistance × Flow).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Driving pressure (ΔP) = Pplat − PEEP.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315200" y="2148840"/>
            <a:ext cx="4325112" cy="3840480"/>
          </a:xfrm>
          <a:prstGeom prst="roundRect">
            <a:avLst>
              <a:gd name="adj" fmla="val 2381"/>
            </a:avLst>
          </a:prstGeom>
          <a:solidFill>
            <a:srgbClr val="E7F0FD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0" y="2377440"/>
            <a:ext cx="3776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0" y="2715768"/>
            <a:ext cx="37764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Amato 2015 driving pressure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589520" y="3474720"/>
            <a:ext cx="377647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Pplat − PEEP &lt; 14 cmH₂O is the modern ARDS target. Stronger mortality predictor than Vt, Pplat, or PEEP individually.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 · Defaults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IBW Math and Safe Initial Settings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63093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Devine IBW formulas.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adult defaults to defend: AC/VC mode; Vt 6–8 mL/kg IBW; RR 14, titrated to EtCO₂ 35–45; FiO₂ 100% then wean; PEEP 5; I:E 1:2; alarms PIP 35, low MV…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in doubt, return to defaults.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315200" y="2148840"/>
            <a:ext cx="4325112" cy="3840480"/>
          </a:xfrm>
          <a:prstGeom prst="roundRect">
            <a:avLst>
              <a:gd name="adj" fmla="val 2381"/>
            </a:avLst>
          </a:prstGeom>
          <a:solidFill>
            <a:srgbClr val="FBEFDD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0" y="2377440"/>
            <a:ext cx="3776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C5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PEARL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0" y="2715768"/>
            <a:ext cx="37764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5'10" rule of thumb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589520" y="3474720"/>
            <a:ext cx="377647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5'10" adult ≈ 73 kg IBW → Vt 440–580 mL. Memorize this anchor for when you don't have a card handy.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73A6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 put it to work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off to learner devices — cues match your facilitator guide.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965960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874520" y="1984248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Check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874520" y="2395728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questions · pass 8/10 to unlock the next module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2990088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874520" y="3008376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or Monitored?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874520" y="3419856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items · Operator-Set Settings · Monitored Values · must be perfect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4014216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B4690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874520" y="4032504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took the vent. Settings look weird.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874520" y="4443984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4-decision branching scenario · 5'6" male, 250 lb actual. Just intubated for hypoxic respiratory…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5038344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1C7D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874520" y="505663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1200 Simulator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874520" y="546811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vent-ltv1200.html?scenario=initial-settings  —  Build safe initial settings on a freshly intubated patient — Vt by IBW, PEEP, and…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2A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Carry this out the door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645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463040" y="1600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FiO₂ alone won't fix shunt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on 100% FiO₂ and saturation barely moves? It's a shunt. The bedside fix is PEEP — usually via CPAP in awake patients.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" y="2788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463040" y="2743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5'10" rule of thumb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5'10" adult ≈ 73 kg IBW → Vt 440–580 mL. Memorize this anchor for when you don't have a card handy.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463040" y="3886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Tidal Volume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Vt — How Much Air Per Breath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5074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463040" y="5029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Respiratory Rate &amp; Minute Ventilation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48640" y="6126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A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Module 5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2026-07-26T23:56:28Z</dcterms:created>
  <dcterms:modified xsi:type="dcterms:W3CDTF">2026-07-26T23:56:28Z</dcterms:modified>
</cp:coreProperties>
</file>