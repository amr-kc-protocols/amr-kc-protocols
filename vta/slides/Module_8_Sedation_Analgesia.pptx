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8: Sedation &amp; Analgesia. If the patient can fight the vent, the vent will lose. Analgesia first. Push-dose pressors ready before you push the induction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 of the module. Teach the lessons in order, then run the four interactive components on learner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Comfort: an ETT is uncomfortable; bucking the vent is exhausting.
Synchrony: a patient fighting the vent generates dangerously high airway pressures (barotrauma).
Safety: awake fighting patients pull tubes and lines — self-extubation is a sentinel event.
Oxygenation: lower work of breathing = lower O₂ demand = easier oxygenation.
Hemodynamics: well-sedated patients have less sympathetic drive and more predictable response to vasopressors.
Modern ICU evidence (ABCDE bundle, SAT/SBT): LIGHTER sedation with daily wake-ups reduces vent days and mortality. EMS target: RASS −1 to −2 — calm but arousable.
PEARL — Iron rule: Paralyze ONLY a patient who is also analgesed AND sedated. Bolt-and-paralyze without sedation = awareness with paralysis. Sentinel safety event.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Richmond Agitation-Sedation Scale runs +4 (combative) to −5 (unarousable).
+4 combative danger to staff. +3 very agitated, pulls at tubes. +2 agitated, fights vent. +1 restless but cooperative.
0 alert and calm.
−1 drowsy, sustained eye contact &gt; 10 sec to voice. −2 light sedation, briefly opens eyes to voice. −3 moderate, movement to voice no eye contact. −4 deep, movement to physical stimulus only. −5 unarousable.
Transport target is RASS −1 to −2. Deeper than −2 makes handoff assessment hard. Lighter than −1 risks self-extubation.
Critical caveat: RASS CANNOT be scored during neuromuscular blockade — a paralyzed patient always looks calm regardless of awareness. Until paralysis resolves, judge adequacy of analgesia/sedation by autonomic signs (heart rate, blood pressure, lacrimation, diaphoresis), not by RASS.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Fentanyl 1–2 mcg/kg IV, redose 0.5–1 mcg/kg q15–20 min. Analgesia first. Watch chest wall rigidity at high doses pushed rapidly.
Ketamine 1–2 mg/kg IV induction; 0.5–1 mg/kg redose. PREFERRED in shock — sympathetic effect supports BP. KETASED (Jabre 2009): equivalent to etomidate, safer in shock. Modern evidence: acceptable in TBI. Scope varies by service — some carry it only for ongoing sedation of already-intubated patients rather than as a field induction agent; know your local protocol.
Midazolam 0.05–0.1 mg/kg IV q5–10 min. Sedation + amnesia. Synergistic respiratory depression with opioids. Reversible with flumazenil.
Propofol 5–50 mcg/kg/min infusion (per service formulary). Drops BP. PRIS (propofol-related infusion syndrome): metabolic acidosis, rhabdomyolysis, cardiac arrhythmia at &gt; 4 mg/kg/hr or &gt; 48 hr infusions. Often not carried on EMS units — typically a hospital-supplied infusion you may monitor, not initiate.
Etomidate 0.3 mg/kg IV induction. Clean hemodynamics but causes adrenal suppression — many EMS prefer ketamine in shock RSI. Not carried by many EMS services.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Post-intubation hypotension is common after emergency intubation — about 25% in Heffner's 2012 emergency-department cohort (an ED, not prehospital, study; anticipate it in the field too). The fix is anticipation.
Push-dose epinephrine — a rapid bridge for peri-intubation hypotension. Mix 1 mg (1:10,000) into 100 mL NS = 10 mcg/mL. Dose 5–20 mcg IV (typically 10 mcg) every 1–5 min. Onset 1 min, duration 5–10 min. Inotropy + vasoconstriction. It buys time until a continuous infusion is running — it is not the definitive pressor.
Push-dose phenylephrine — alternative when avoiding tachycardia. Mix 10 mg into 100 mL NS = 100 mcg/mL. Dose 50–200 mcg IV q1–5 min. Pure α-agonist; reflex bradycardia possible.
Label every syringe clearly. Document every push. Move to a continuous infusion as soon as practical — norepinephrine is the first-line infused vasopressor for most shock states (Surviving Sepsis 2021), started at 0.05–0.1 mcg/kg/min and titrated to MAP ≥ 65, and it can run peripherally through a good IV for transport. Push-dose pressors are a bridge to that infusion.
EVIDENCE — Post-intubation hypotension: Heffner 2012: ~25% incidence in an emergency-department intubation cohort (not a prehospital study). Higher in shock states. Always have push-dose pressors prepared before pushing the induction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Under-sedation in the first 10 minutes after intubation. Long-acting paralytics outlast a single induction dose. Bolt → sedate → redose sedation BEFORE paralysis wears off.
Over-sedation pre-arrival. RASS −5 patients can't help with hand-off and are at higher risk of hemodynamic instability. Target RASS −1 to −2 by handoff.
Paralytic without analgesia/sedation. Awareness with paralysis — sentinel safety event. Always pair long-acting paralytics with BOTH.
Post-intubation hypotension. ~25% incidence. Push-dose pressors should be in your hand before induction.
Mixing too many agents. Stick with one analgesic + one sedative for transport.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slide: send learners to the app for this module's quiz, match, scenario, then the simulator mission. Keep the cohort together; modules unlock in sequence.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module pearls,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vent-ltv1200.html?scenario=agitation" TargetMode="External"/><Relationship Id="rId2" Type="http://schemas.openxmlformats.org/officeDocument/2006/relationships/hyperlink" Target="vent-ltv1200.html?scenario=agitation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80960" y="-548640"/>
            <a:ext cx="4754880" cy="7680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40000" b="1" dirty="0">
                <a:solidFill>
                  <a:srgbClr val="1B63C4">
                    <a:alpha val="22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VENTILATOR TRAINING ACADEMY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237744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Sedation &amp; Analgesia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patient can fight the vent, the vent will lose. Analgesia first. Push-dose pressors ready before you push the induction agent.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pPr indent="0" marL="0">
              <a:buNone/>
            </a:pPr>
            <a:r>
              <a:rPr lang="en-US" sz="1300" dirty="0">
                <a:solidFill>
                  <a:srgbClr val="8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5 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309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Hunter Jones, NRP · Course Director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module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Sedate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Reasons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Sedation Scale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3236976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63040" y="3191256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 Sedation/Analgesia Toolbox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55080" y="1554480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69480" y="150876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Pressors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BEFORE You Push Induction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55080" y="2395728"/>
            <a:ext cx="777240" cy="548640"/>
          </a:xfrm>
          <a:prstGeom prst="roundRect">
            <a:avLst>
              <a:gd name="adj" fmla="val 13333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350008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7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  </a:t>
            </a:r>
            <a:pPr indent="0" marL="0">
              <a:lnSpc>
                <a:spcPct val="95000"/>
              </a:lnSpc>
              <a:buNone/>
            </a:pPr>
            <a:r>
              <a:rPr lang="en-US" sz="150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Wrong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6172200"/>
            <a:ext cx="640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34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520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06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92440" y="61722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 · Why Sedate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Reasons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Comfort: an ETT is uncomfortable; bucking the vent is exhausting.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Synchrony: a patient fighting the vent generates dangerously high airway pressures (barotrauma).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Safety: awake fighting patients pull tubes and lines — self-extubation is a sentinel event.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Oxygenation: lower work of breathing = lower O₂ demand = easier oxygenation.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Hemodynamics: well-sedated patients have less sympathetic drive and more predictable response to vasopressors.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FBEFD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C54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PEARL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 rule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Paralyze ONLY a patient who is also analgesed AND sedated. Bolt-and-paralyze without sedation = awareness with paralysis. Sentinel safety event.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 · RASS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Sedation Scale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Richmond Agitation-Sedation Scale runs +4 (combative) to −5 (unarousable).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 combative danger to staff. +3 very agitated, pulls at tubes. +2 agitated, fights vent. +1 restless but cooperative.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alert and calm.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drowsy, sustained eye contact &gt; 10 sec to voice. −2 light sedation, briefly opens eyes to voice. −3 moderate, movement to voice no eye contact. −4 deep, movement to physical stimulus only.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target is RASS −1 to −2. Deeper than −2 makes handoff assessment hard. Lighter than −1 risks self-extubation.</a:t>
            </a:r>
            <a:endParaRPr lang="en-US" sz="1350" dirty="0"/>
          </a:p>
          <a:p>
            <a:pPr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caveat: RASS CANNOT be scored during neuromuscular blockade — a paralyzed patient always looks calm regardless of awareness.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 · Agents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EMS Sedation/Analgesia Toolbox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Fentanyl 1–2 mcg/kg IV, redose 0.5–1 mcg/kg q15–20 min. Analgesia first. Watch chest wall rigidity at high doses pushed rapidly.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Ketamine 1–2 mg/kg IV induction; 0.5–1 mg/kg redose. PREFERRED in shock — sympathetic effect supports BP. KETASED (Jabre 2009): equivalent to etomidate, safer in shock. Modern evidence: acceptable in TBI.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Midazolam 0.05–0.1 mg/kg IV q5–10 min. Sedation + amnesia. Synergistic respiratory depression with opioids. Reversible with flumazenil.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Propofol 5–50 mcg/kg/min infusion (per service formulary). Drops BP. PRIS (propofol-related infusion syndrome): metabolic acidosis, rhabdomyolysis, cardiac arrhythmia at &gt; 4 mg/kg/hr or &gt; 48 hr infusions.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Etomidate 0.3 mg/kg IV induction. Clean hemodynamics but causes adrenal suppression — many EMS prefer ketamine in shock RSI. Not carried by many EMS services.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 · Push-Dose Pressors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BEFORE You Push Induction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630936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Post-intubation hypotension is common after emergency intubation — about 25% in Heffner's 2012 emergency-department cohort (an ED, not prehospital, study; anticipate it in the field too).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epinephrine — a rapid bridge for peri-intubation hypotension. Mix 1 mg (1:10,000) into 100 mL NS = 10 mcg/mL. Dose 5–20 mcg IV (typically 10 mcg) every 1–5 min.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phenylephrine — alternative when avoiding tachycardia. Mix 10 mg into 100 mL NS = 100 mcg/mL. Dose 50–200 mcg IV q1–5 min. Pure α-agonist; reflex bradycardia possible.</a:t>
            </a:r>
            <a:endParaRPr lang="en-US" sz="1550" dirty="0"/>
          </a:p>
          <a:p>
            <a:pPr marL="177800" indent="-177800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every syringe clearly. Document every push.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0" y="2148840"/>
            <a:ext cx="4325112" cy="3840480"/>
          </a:xfrm>
          <a:prstGeom prst="roundRect">
            <a:avLst>
              <a:gd name="adj" fmla="val 2381"/>
            </a:avLst>
          </a:prstGeom>
          <a:solidFill>
            <a:srgbClr val="E7F0FD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0" y="2377440"/>
            <a:ext cx="3776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89520" y="2715768"/>
            <a:ext cx="37764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Post-intubation hypotension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589520" y="3474720"/>
            <a:ext cx="377647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Heffner 2012: ~25% incidence in an emergency-department intubation cohort (not a prehospital study). Higher in shock states. Always have push-dose pressors prepared before pushing the induction agent.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6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 · Pitfalls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595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2900" b="1" dirty="0">
                <a:solidFill>
                  <a:srgbClr val="17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Goes Wrong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10561320" y="457200"/>
            <a:ext cx="1097280" cy="1097280"/>
          </a:xfrm>
          <a:prstGeom prst="roundRect">
            <a:avLst>
              <a:gd name="adj" fmla="val 10000"/>
            </a:avLst>
          </a:prstGeom>
          <a:solidFill>
            <a:srgbClr val="173A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2148840"/>
            <a:ext cx="10058400" cy="4160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Under-sedation in the first 10 minutes after intubation. Long-acting paralytics outlast a single induction dose. Bolt → sedate → redose sedation BEFORE paralysis wears off.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Over-sedation pre-arrival. RASS −5 patients can't help with hand-off and are at higher risk of hemodynamic instability. Target RASS −1 to −2 by handoff.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Paralytic without analgesia/sedation. Awareness with paralysis — sentinel safety event. Always pair long-acting paralytics with BOTH.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Post-intubation hypotension. ~25% incidence. Push-dose pressors should be in your hand before induction.</a:t>
            </a:r>
            <a:endParaRPr lang="en-US" sz="1450" dirty="0"/>
          </a:p>
          <a:p>
            <a:pPr marL="177800" indent="-1778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B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too many agents. Stick with one analgesic + one sedative for transport.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3A6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put it to work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learner devices — cues match your facilitator guide.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65960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B63C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74520" y="1984248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Check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874520" y="2395728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 · pass 8/10 to unlock the next module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2990088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74520" y="3008376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Sedation/Pressor Agent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874520" y="3419856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items · Ketamine · Fentanyl · Push-Dose Epi · must be perfect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48640" y="4014216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B4690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74520" y="4032504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Septic Shock RSI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874520" y="4443984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C2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4-decision branching scenario · 76-year-old female, 60 kg, urosepsis, on norepinephrine 8 mcg/min…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038344"/>
            <a:ext cx="1051560" cy="777240"/>
          </a:xfrm>
          <a:prstGeom prst="roundRect">
            <a:avLst>
              <a:gd name="adj" fmla="val 11765"/>
            </a:avLst>
          </a:prstGeom>
          <a:solidFill>
            <a:srgbClr val="1C7D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400" dirty="0"/>
          </a:p>
        </p:txBody>
      </p:sp>
      <p:sp>
        <p:nvSpPr>
          <p:cNvPr id="14" name="Text 12">
            <a:hlinkClick r:id="rId1" tooltip="Open this module's simulator mission"/>
          </p:cNvPr>
          <p:cNvSpPr/>
          <p:nvPr/>
        </p:nvSpPr>
        <p:spPr>
          <a:xfrm>
            <a:off x="1874520" y="5056632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Open this module's simulator missio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LTV 1200 Simulator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874520" y="5468112"/>
            <a:ext cx="9966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u="sng" dirty="0">
                <a:solidFill>
                  <a:srgbClr val="7FB0E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vent-ltv1200.html?scenario=agitation  —  A patient fighting the vent with normal mechanics — recognize when the fix is a drug,…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A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Carry this out the door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463040" y="1600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rule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Paralyze ONLY a patient who is also analgesed AND sedated. Bolt-and-paralyze without sedation = awareness with paralysis. Sentinel safety event.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2788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463040" y="2743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Sedation Scale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463040" y="3886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EMS Sedation/Analgesia Toolbox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5074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CFE0F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F2A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463040" y="50292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Push-Dose Pressors 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B9C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BEFORE You Push Induction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FA0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Module 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2026-07-27T22:12:17Z</dcterms:created>
  <dcterms:modified xsi:type="dcterms:W3CDTF">2026-07-27T22:12:17Z</dcterms:modified>
</cp:coreProperties>
</file>