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5: Modes of Ventilation. Volume targeted, pressure targeted, and the partnerships in between. Pick the mode the patient needs — not the mode you remember.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Roadmap of the module. Teach the lessons in order, then run the four interactive components on learner devices.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vent breath guarantees one thing and lets the other float — like inflating a tire: pump to a set volume of air and the pressure lands where it lands, or pump to a set pressure and the volume lands where it lands. You never get to fix both at once.
Volume-targeted (AC/VC): you set Vt — vent delivers it. PRESSURE varies with lung compliance. Most EMS default. Watch PIP / Pplat.
Pressure-targeted (AC/PC): you set inspiratory pressure — vent delivers it. VOLUME varies. Pressure capped, so barotrauma risk lower. Watch delivered Vt.
Trade-off: AC/VC gives predictable minute ventilation but variable pressure. AC/PC caps pressure but volume floats with stiffness.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"Control" does NOT mean the patient is locked out. In AC mode, the patient can trigger their own breaths above the set rate.
AC guarantees a MINIMUM number of breaths per minute (set by RR). Patient-triggered breaths receive the full set Vt (or pressure) too. No "small supportive" breaths in pure AC.
Historical note: the original mode was CMV (Continuous Mandatory Ventilation) — patient locked out completely. AC came along to allow triggering, dramatically improving comfort.
Tachypneic patient on AC can stack breaths and develop auto-PEEP. Fix the cause of tachypnea (sedation, pain, hypoxia) — don't just lower the set rate.
PEARL — Pure AC = full breath every time: There are no small supportive breaths in AC. Every triggered breath gets the full set Vt.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Synchronized Intermittent Mandatory Ventilation: vent delivers a SET rate of mandatory breaths. Between mandatory breaths, the patient breathes spontaneously at any volume. Often paired with Pressure Support for the spontaneous breaths.
Originally designed as a weaning mode — set rate decreased as the patient improved. Intuitive but not supported by evidence.
Esteban et al. (NEJM 1995) randomized weaning strategies. SIMV was the SLOWEST of four methods. Once-daily T-piece trials and PSV alone produced faster extubation. Most modern ICUs no longer use SIMV.
Pressure Support (PSV): vent senses spontaneous effort and adds a fixed pressure (5–15 cmH₂O). Compensates for ETT/circuit resistance (~5) or actively unloads the diaphragm (10–15). Inspiration cycles when flow drops to ~25% of peak.
EVIDENCE — Esteban 1995: T-piece and PSV both produced faster weaning than SIMV. Modern ICUs use spontaneous breathing trials, not SIMV gradual taper.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CPAP: ONE pressure throughout the breath. Patient does all the work. Best for OXYGENATION problems (CHF, acute pulmonary edema). Mechanism: pushes alveolar fluid into capillaries, reduces preload + LV afterload. Start 5–10 cmH₂O / FiO₂ 100%.
Bersten et al. (NEJM 1991): in cardiogenic pulmonary edema, CPAP eliminated intubation in the treated arm. Cochrane: NNT 4–7 to prevent intubation.
BiPAP: TWO pressures (IPAP / EPAP). IPAP − EPAP = pressure support per breath. Best for VENTILATION problems (COPD with hypercapnia). Mechanism: EPAP overcomes auto-PEEP; IPAP unloads tired diaphragm. Start IPAP 10 / EPAP 5.
Brochard et al. (NEJM 1995): in COPD exacerbation with hypercapnia, BiPAP reduced intubation from 74% to 26% and mortality from 29% to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Pressure-Regulated Volume Control: a HYBRID. You set a Vt target; the vent delivers it using the LOWEST pressure required, measuring compliance breath-by-breath. Best of both worlds — volume guaranteed, pressure capped.
Vendor names differ: Drager AutoFlow, Servo PRVC, Hamilton ASV-like — all variations on the same idea.
The LTV 1200 does NOT natively offer PRVC. If you inherit a patient on PRVC from a sending facility, coordinate with the team, then switch to AC/VC (matching Vt and RR) or AC/PC. Watch PIP closely after the change.
APRV (Airway Pressure Release Ventilation) — used in refractory ARDS. NAVA (Neurally Adjusted Ventilatory Assist) — ICU-level synchrony. HFOV — once a rescue, OSCILLATE (NEJM 2013) showed harm. All beyond EMS scope but worth recognizing.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Patient-vent dyssynchrony is the patient and the machine fighting over who leads the breath — pushing and pulling at different moments, like two people trying to row out of step. It affects ~25% of vented patients (Blanch, Intensive Care Med 2015) and raises work of breathing, sedation needs, and mortality.
Trigger sensitivity controls how easily the patient initiates a breath. Pressure trigger (−1 to −2 cmH₂O) is the common default. Flow trigger (1–3 L/min) is more responsive. Too sensitive → auto-cycling from circuit motion. Not sensitive enough → patient struggles.
Inspiratory rise time: how fast the pressure ramps up at the start of inspiration (pressure-targeted modes). Faster rise (0.1–0.2 sec) feels powerful but can jolt awake patients. Slower (0.4–0.6 sec) is gentler but can feel like flow starvation in dyspneic patients.
EMS bedside fix for most dyssynchrony: deepen sedation, ensure analgesia, check trigger settings.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slide: send learners to the app for this module's quiz, match, scenario, then the simulator mission. Keep the cohort together; modules unlock in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the module pearls, then transition.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ASE">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3A68"/>
        </a:solidFill>
      </p:bgPr>
    </p:bg>
    <p:spTree>
      <p:nvGrpSpPr>
        <p:cNvPr id="1" name=""/>
        <p:cNvGrpSpPr/>
        <p:nvPr/>
      </p:nvGrpSpPr>
      <p:grpSpPr>
        <a:xfrm>
          <a:off x="0" y="0"/>
          <a:ext cx="0" cy="0"/>
          <a:chOff x="0" y="0"/>
          <a:chExt cx="0" cy="0"/>
        </a:xfrm>
      </p:grpSpPr>
      <p:sp>
        <p:nvSpPr>
          <p:cNvPr id="2" name="Text 0"/>
          <p:cNvSpPr/>
          <p:nvPr/>
        </p:nvSpPr>
        <p:spPr>
          <a:xfrm>
            <a:off x="7680960" y="-548640"/>
            <a:ext cx="4754880" cy="7680960"/>
          </a:xfrm>
          <a:prstGeom prst="rect">
            <a:avLst/>
          </a:prstGeom>
          <a:noFill/>
          <a:ln/>
        </p:spPr>
        <p:txBody>
          <a:bodyPr wrap="square" rtlCol="0" anchor="ctr"/>
          <a:lstStyle/>
          <a:p>
            <a:pPr algn="r" indent="0" marL="0">
              <a:buNone/>
            </a:pPr>
            <a:r>
              <a:rPr lang="en-US" sz="40000" b="1" dirty="0">
                <a:solidFill>
                  <a:srgbClr val="1B63C4">
                    <a:alpha val="22000"/>
                  </a:srgbClr>
                </a:solidFill>
                <a:latin typeface="Cambria" pitchFamily="34" charset="0"/>
                <a:ea typeface="Cambria" pitchFamily="34" charset="-122"/>
                <a:cs typeface="Cambria" pitchFamily="34" charset="-120"/>
              </a:rPr>
              <a:t>5</a:t>
            </a:r>
            <a:endParaRPr lang="en-US" sz="40000" dirty="0"/>
          </a:p>
        </p:txBody>
      </p:sp>
      <p:sp>
        <p:nvSpPr>
          <p:cNvPr id="3" name="Text 1"/>
          <p:cNvSpPr/>
          <p:nvPr/>
        </p:nvSpPr>
        <p:spPr>
          <a:xfrm>
            <a:off x="548640" y="1371600"/>
            <a:ext cx="8229600" cy="365760"/>
          </a:xfrm>
          <a:prstGeom prst="rect">
            <a:avLst/>
          </a:prstGeom>
          <a:noFill/>
          <a:ln/>
        </p:spPr>
        <p:txBody>
          <a:bodyPr wrap="square" rtlCol="0" anchor="ctr"/>
          <a:lstStyle/>
          <a:p>
            <a:pPr indent="0" marL="0">
              <a:buNone/>
            </a:pPr>
            <a:r>
              <a:rPr lang="en-US" sz="1300" b="1" spc="300" kern="0" dirty="0">
                <a:solidFill>
                  <a:srgbClr val="CFE0F5"/>
                </a:solidFill>
                <a:latin typeface="Calibri" pitchFamily="34" charset="0"/>
                <a:ea typeface="Calibri" pitchFamily="34" charset="-122"/>
                <a:cs typeface="Calibri" pitchFamily="34" charset="-120"/>
              </a:rPr>
              <a:t>VENTILATOR TRAINING ACADEMY</a:t>
            </a:r>
            <a:endParaRPr lang="en-US" sz="1300" dirty="0"/>
          </a:p>
        </p:txBody>
      </p:sp>
      <p:sp>
        <p:nvSpPr>
          <p:cNvPr id="4" name="Text 2"/>
          <p:cNvSpPr/>
          <p:nvPr/>
        </p:nvSpPr>
        <p:spPr>
          <a:xfrm>
            <a:off x="548640" y="1828800"/>
            <a:ext cx="8229600" cy="640080"/>
          </a:xfrm>
          <a:prstGeom prst="rect">
            <a:avLst/>
          </a:prstGeom>
          <a:noFill/>
          <a:ln/>
        </p:spPr>
        <p:txBody>
          <a:bodyPr wrap="square" rtlCol="0" anchor="ctr"/>
          <a:lstStyle/>
          <a:p>
            <a:pPr indent="0" marL="0">
              <a:buNone/>
            </a:pPr>
            <a:r>
              <a:rPr lang="en-US" sz="2200" b="1" dirty="0">
                <a:solidFill>
                  <a:srgbClr val="1B63C4"/>
                </a:solidFill>
                <a:latin typeface="Calibri" pitchFamily="34" charset="0"/>
                <a:ea typeface="Calibri" pitchFamily="34" charset="-122"/>
                <a:cs typeface="Calibri" pitchFamily="34" charset="-120"/>
              </a:rPr>
              <a:t>Module 5</a:t>
            </a:r>
            <a:endParaRPr lang="en-US" sz="2200" dirty="0"/>
          </a:p>
        </p:txBody>
      </p:sp>
      <p:sp>
        <p:nvSpPr>
          <p:cNvPr id="5" name="Text 3"/>
          <p:cNvSpPr/>
          <p:nvPr/>
        </p:nvSpPr>
        <p:spPr>
          <a:xfrm>
            <a:off x="548640" y="2377440"/>
            <a:ext cx="7680960" cy="1645920"/>
          </a:xfrm>
          <a:prstGeom prst="rect">
            <a:avLst/>
          </a:prstGeom>
          <a:noFill/>
          <a:ln/>
        </p:spPr>
        <p:txBody>
          <a:bodyPr wrap="square" rtlCol="0" anchor="t"/>
          <a:lstStyle/>
          <a:p>
            <a:pPr indent="0" marL="0">
              <a:lnSpc>
                <a:spcPct val="95000"/>
              </a:lnSpc>
              <a:buNone/>
            </a:pPr>
            <a:r>
              <a:rPr lang="en-US" sz="4400" b="1" dirty="0">
                <a:solidFill>
                  <a:srgbClr val="FFFFFF"/>
                </a:solidFill>
                <a:latin typeface="Cambria" pitchFamily="34" charset="0"/>
                <a:ea typeface="Cambria" pitchFamily="34" charset="-122"/>
                <a:cs typeface="Cambria" pitchFamily="34" charset="-120"/>
              </a:rPr>
              <a:t>Modes of Ventilation</a:t>
            </a:r>
            <a:endParaRPr lang="en-US" sz="4400" dirty="0"/>
          </a:p>
        </p:txBody>
      </p:sp>
      <p:sp>
        <p:nvSpPr>
          <p:cNvPr id="6" name="Text 4"/>
          <p:cNvSpPr/>
          <p:nvPr/>
        </p:nvSpPr>
        <p:spPr>
          <a:xfrm>
            <a:off x="548640" y="4160520"/>
            <a:ext cx="6949440" cy="1280160"/>
          </a:xfrm>
          <a:prstGeom prst="rect">
            <a:avLst/>
          </a:prstGeom>
          <a:noFill/>
          <a:ln/>
        </p:spPr>
        <p:txBody>
          <a:bodyPr wrap="square" rtlCol="0" anchor="t"/>
          <a:lstStyle/>
          <a:p>
            <a:pPr indent="0" marL="0">
              <a:lnSpc>
                <a:spcPct val="105000"/>
              </a:lnSpc>
              <a:buNone/>
            </a:pPr>
            <a:r>
              <a:rPr lang="en-US" sz="1600" dirty="0">
                <a:solidFill>
                  <a:srgbClr val="CFE0F5"/>
                </a:solidFill>
                <a:latin typeface="Calibri" pitchFamily="34" charset="0"/>
                <a:ea typeface="Calibri" pitchFamily="34" charset="-122"/>
                <a:cs typeface="Calibri" pitchFamily="34" charset="-120"/>
              </a:rPr>
              <a:t>Volume targeted, pressure targeted, and the partnerships in between. Pick the mode the patient needs — not the mode you remember.</a:t>
            </a:r>
            <a:endParaRPr lang="en-US" sz="1600" dirty="0"/>
          </a:p>
        </p:txBody>
      </p:sp>
      <p:sp>
        <p:nvSpPr>
          <p:cNvPr id="7" name="Text 5"/>
          <p:cNvSpPr/>
          <p:nvPr/>
        </p:nvSpPr>
        <p:spPr>
          <a:xfrm>
            <a:off x="548640" y="5806440"/>
            <a:ext cx="8229600" cy="365760"/>
          </a:xfrm>
          <a:prstGeom prst="rect">
            <a:avLst/>
          </a:prstGeom>
          <a:noFill/>
          <a:ln/>
        </p:spPr>
        <p:txBody>
          <a:bodyPr wrap="square" rtlCol="0" anchor="ctr"/>
          <a:lstStyle/>
          <a:p>
            <a:pPr indent="0" marL="0">
              <a:buNone/>
            </a:pPr>
            <a:r>
              <a:rPr lang="en-US" sz="1300" b="1" dirty="0">
                <a:solidFill>
                  <a:srgbClr val="CFE0F5"/>
                </a:solidFill>
                <a:latin typeface="Calibri" pitchFamily="34" charset="0"/>
                <a:ea typeface="Calibri" pitchFamily="34" charset="-122"/>
                <a:cs typeface="Calibri" pitchFamily="34" charset="-120"/>
              </a:rPr>
              <a:t>Day 1 · Foundations</a:t>
            </a:r>
            <a:pPr indent="0" marL="0">
              <a:buNone/>
            </a:pPr>
            <a:r>
              <a:rPr lang="en-US" sz="1300" dirty="0">
                <a:solidFill>
                  <a:srgbClr val="8AA6C8"/>
                </a:solidFill>
                <a:latin typeface="Calibri" pitchFamily="34" charset="0"/>
                <a:ea typeface="Calibri" pitchFamily="34" charset="-122"/>
                <a:cs typeface="Calibri" pitchFamily="34" charset="-120"/>
              </a:rPr>
              <a:t>   ·   ~60 min   ·   6 lessons</a:t>
            </a:r>
            <a:endParaRPr lang="en-US" sz="1300" dirty="0"/>
          </a:p>
        </p:txBody>
      </p:sp>
      <p:sp>
        <p:nvSpPr>
          <p:cNvPr id="8" name="Text 6"/>
          <p:cNvSpPr/>
          <p:nvPr/>
        </p:nvSpPr>
        <p:spPr>
          <a:xfrm>
            <a:off x="548640" y="6309360"/>
            <a:ext cx="8229600" cy="320040"/>
          </a:xfrm>
          <a:prstGeom prst="rect">
            <a:avLst/>
          </a:prstGeom>
          <a:noFill/>
          <a:ln/>
        </p:spPr>
        <p:txBody>
          <a:bodyPr wrap="square" rtlCol="0" anchor="ctr"/>
          <a:lstStyle/>
          <a:p>
            <a:pPr indent="0" marL="0">
              <a:buNone/>
            </a:pPr>
            <a:r>
              <a:rPr lang="en-US" sz="1100" dirty="0">
                <a:solidFill>
                  <a:srgbClr val="6E88A8"/>
                </a:solidFill>
                <a:latin typeface="Calibri" pitchFamily="34" charset="0"/>
                <a:ea typeface="Calibri" pitchFamily="34" charset="-122"/>
                <a:cs typeface="Calibri" pitchFamily="34" charset="-120"/>
              </a:rPr>
              <a:t>Jordan Hunter Jones, NRP · Course Director</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457200"/>
            <a:ext cx="8229600" cy="640080"/>
          </a:xfrm>
          <a:prstGeom prst="rect">
            <a:avLst/>
          </a:prstGeom>
          <a:noFill/>
          <a:ln/>
        </p:spPr>
        <p:txBody>
          <a:bodyPr wrap="square" rtlCol="0" anchor="ctr"/>
          <a:lstStyle/>
          <a:p>
            <a:pPr indent="0" marL="0">
              <a:buNone/>
            </a:pPr>
            <a:r>
              <a:rPr lang="en-US" sz="3200" b="1" dirty="0">
                <a:solidFill>
                  <a:srgbClr val="173A68"/>
                </a:solidFill>
                <a:latin typeface="Cambria" pitchFamily="34" charset="0"/>
                <a:ea typeface="Cambria" pitchFamily="34" charset="-122"/>
                <a:cs typeface="Cambria" pitchFamily="34" charset="-120"/>
              </a:rPr>
              <a:t>In this module</a:t>
            </a:r>
            <a:endParaRPr lang="en-US" sz="3200" dirty="0"/>
          </a:p>
        </p:txBody>
      </p:sp>
      <p:sp>
        <p:nvSpPr>
          <p:cNvPr id="3" name="Text 1"/>
          <p:cNvSpPr/>
          <p:nvPr/>
        </p:nvSpPr>
        <p:spPr>
          <a:xfrm>
            <a:off x="548640" y="1554480"/>
            <a:ext cx="777240" cy="548640"/>
          </a:xfrm>
          <a:prstGeom prst="roundRect">
            <a:avLst>
              <a:gd name="adj" fmla="val 13333"/>
            </a:avLst>
          </a:prstGeom>
          <a:solidFill>
            <a:srgbClr val="1B63C4"/>
          </a:solid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5.1</a:t>
            </a:r>
            <a:endParaRPr lang="en-US" sz="1600" dirty="0"/>
          </a:p>
        </p:txBody>
      </p:sp>
      <p:sp>
        <p:nvSpPr>
          <p:cNvPr id="4" name="Text 2"/>
          <p:cNvSpPr/>
          <p:nvPr/>
        </p:nvSpPr>
        <p:spPr>
          <a:xfrm>
            <a:off x="1463040" y="1508760"/>
            <a:ext cx="4663440" cy="640080"/>
          </a:xfrm>
          <a:prstGeom prst="rect">
            <a:avLst/>
          </a:prstGeom>
          <a:noFill/>
          <a:ln/>
        </p:spPr>
        <p:txBody>
          <a:bodyPr wrap="square" rtlCol="0" anchor="ctr"/>
          <a:lstStyle/>
          <a:p>
            <a:pPr indent="0" marL="0">
              <a:lnSpc>
                <a:spcPct val="95000"/>
              </a:lnSpc>
              <a:buNone/>
            </a:pPr>
            <a:r>
              <a:rPr lang="en-US" sz="1100" b="1" dirty="0">
                <a:solidFill>
                  <a:srgbClr val="173A68"/>
                </a:solidFill>
                <a:latin typeface="Calibri" pitchFamily="34" charset="0"/>
                <a:ea typeface="Calibri" pitchFamily="34" charset="-122"/>
                <a:cs typeface="Calibri" pitchFamily="34" charset="-120"/>
              </a:rPr>
              <a:t>Targeting  </a:t>
            </a:r>
            <a:pPr indent="0" marL="0">
              <a:lnSpc>
                <a:spcPct val="95000"/>
              </a:lnSpc>
              <a:buNone/>
            </a:pPr>
            <a:r>
              <a:rPr lang="en-US" sz="1500" dirty="0">
                <a:solidFill>
                  <a:srgbClr val="1B2433"/>
                </a:solidFill>
                <a:latin typeface="Calibri" pitchFamily="34" charset="0"/>
                <a:ea typeface="Calibri" pitchFamily="34" charset="-122"/>
                <a:cs typeface="Calibri" pitchFamily="34" charset="-120"/>
              </a:rPr>
              <a:t>Volume vs Pressure Targeting</a:t>
            </a:r>
            <a:endParaRPr lang="en-US" sz="1100" dirty="0"/>
          </a:p>
        </p:txBody>
      </p:sp>
      <p:sp>
        <p:nvSpPr>
          <p:cNvPr id="5" name="Text 3"/>
          <p:cNvSpPr/>
          <p:nvPr/>
        </p:nvSpPr>
        <p:spPr>
          <a:xfrm>
            <a:off x="548640" y="2395728"/>
            <a:ext cx="777240" cy="548640"/>
          </a:xfrm>
          <a:prstGeom prst="roundRect">
            <a:avLst>
              <a:gd name="adj" fmla="val 13333"/>
            </a:avLst>
          </a:prstGeom>
          <a:solidFill>
            <a:srgbClr val="1B63C4"/>
          </a:solid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5.2</a:t>
            </a:r>
            <a:endParaRPr lang="en-US" sz="1600" dirty="0"/>
          </a:p>
        </p:txBody>
      </p:sp>
      <p:sp>
        <p:nvSpPr>
          <p:cNvPr id="6" name="Text 4"/>
          <p:cNvSpPr/>
          <p:nvPr/>
        </p:nvSpPr>
        <p:spPr>
          <a:xfrm>
            <a:off x="1463040" y="2350008"/>
            <a:ext cx="4663440" cy="640080"/>
          </a:xfrm>
          <a:prstGeom prst="rect">
            <a:avLst/>
          </a:prstGeom>
          <a:noFill/>
          <a:ln/>
        </p:spPr>
        <p:txBody>
          <a:bodyPr wrap="square" rtlCol="0" anchor="ctr"/>
          <a:lstStyle/>
          <a:p>
            <a:pPr indent="0" marL="0">
              <a:lnSpc>
                <a:spcPct val="95000"/>
              </a:lnSpc>
              <a:buNone/>
            </a:pPr>
            <a:r>
              <a:rPr lang="en-US" sz="1100" b="1" dirty="0">
                <a:solidFill>
                  <a:srgbClr val="173A68"/>
                </a:solidFill>
                <a:latin typeface="Calibri" pitchFamily="34" charset="0"/>
                <a:ea typeface="Calibri" pitchFamily="34" charset="-122"/>
                <a:cs typeface="Calibri" pitchFamily="34" charset="-120"/>
              </a:rPr>
              <a:t>Assist-Control  </a:t>
            </a:r>
            <a:pPr indent="0" marL="0">
              <a:lnSpc>
                <a:spcPct val="95000"/>
              </a:lnSpc>
              <a:buNone/>
            </a:pPr>
            <a:r>
              <a:rPr lang="en-US" sz="1500" dirty="0">
                <a:solidFill>
                  <a:srgbClr val="1B2433"/>
                </a:solidFill>
                <a:latin typeface="Calibri" pitchFamily="34" charset="0"/>
                <a:ea typeface="Calibri" pitchFamily="34" charset="-122"/>
                <a:cs typeface="Calibri" pitchFamily="34" charset="-120"/>
              </a:rPr>
              <a:t>What "Control" Really Means</a:t>
            </a:r>
            <a:endParaRPr lang="en-US" sz="1100" dirty="0"/>
          </a:p>
        </p:txBody>
      </p:sp>
      <p:sp>
        <p:nvSpPr>
          <p:cNvPr id="7" name="Text 5"/>
          <p:cNvSpPr/>
          <p:nvPr/>
        </p:nvSpPr>
        <p:spPr>
          <a:xfrm>
            <a:off x="548640" y="3236976"/>
            <a:ext cx="777240" cy="548640"/>
          </a:xfrm>
          <a:prstGeom prst="roundRect">
            <a:avLst>
              <a:gd name="adj" fmla="val 13333"/>
            </a:avLst>
          </a:prstGeom>
          <a:solidFill>
            <a:srgbClr val="1B63C4"/>
          </a:solid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5.3</a:t>
            </a:r>
            <a:endParaRPr lang="en-US" sz="1600" dirty="0"/>
          </a:p>
        </p:txBody>
      </p:sp>
      <p:sp>
        <p:nvSpPr>
          <p:cNvPr id="8" name="Text 6"/>
          <p:cNvSpPr/>
          <p:nvPr/>
        </p:nvSpPr>
        <p:spPr>
          <a:xfrm>
            <a:off x="1463040" y="3191256"/>
            <a:ext cx="4663440" cy="640080"/>
          </a:xfrm>
          <a:prstGeom prst="rect">
            <a:avLst/>
          </a:prstGeom>
          <a:noFill/>
          <a:ln/>
        </p:spPr>
        <p:txBody>
          <a:bodyPr wrap="square" rtlCol="0" anchor="ctr"/>
          <a:lstStyle/>
          <a:p>
            <a:pPr indent="0" marL="0">
              <a:lnSpc>
                <a:spcPct val="95000"/>
              </a:lnSpc>
              <a:buNone/>
            </a:pPr>
            <a:r>
              <a:rPr lang="en-US" sz="1100" b="1" dirty="0">
                <a:solidFill>
                  <a:srgbClr val="173A68"/>
                </a:solidFill>
                <a:latin typeface="Calibri" pitchFamily="34" charset="0"/>
                <a:ea typeface="Calibri" pitchFamily="34" charset="-122"/>
                <a:cs typeface="Calibri" pitchFamily="34" charset="-120"/>
              </a:rPr>
              <a:t>SIMV &amp; Pressure Support  </a:t>
            </a:r>
            <a:pPr indent="0" marL="0">
              <a:lnSpc>
                <a:spcPct val="95000"/>
              </a:lnSpc>
              <a:buNone/>
            </a:pPr>
            <a:r>
              <a:rPr lang="en-US" sz="1500" dirty="0">
                <a:solidFill>
                  <a:srgbClr val="1B2433"/>
                </a:solidFill>
                <a:latin typeface="Calibri" pitchFamily="34" charset="0"/>
                <a:ea typeface="Calibri" pitchFamily="34" charset="-122"/>
                <a:cs typeface="Calibri" pitchFamily="34" charset="-120"/>
              </a:rPr>
              <a:t>SIMV and Why It Fell Out of Favor</a:t>
            </a:r>
            <a:endParaRPr lang="en-US" sz="1100" dirty="0"/>
          </a:p>
        </p:txBody>
      </p:sp>
      <p:sp>
        <p:nvSpPr>
          <p:cNvPr id="9" name="Text 7"/>
          <p:cNvSpPr/>
          <p:nvPr/>
        </p:nvSpPr>
        <p:spPr>
          <a:xfrm>
            <a:off x="6355080" y="1554480"/>
            <a:ext cx="777240" cy="548640"/>
          </a:xfrm>
          <a:prstGeom prst="roundRect">
            <a:avLst>
              <a:gd name="adj" fmla="val 13333"/>
            </a:avLst>
          </a:prstGeom>
          <a:solidFill>
            <a:srgbClr val="1B63C4"/>
          </a:solid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5.4</a:t>
            </a:r>
            <a:endParaRPr lang="en-US" sz="1600" dirty="0"/>
          </a:p>
        </p:txBody>
      </p:sp>
      <p:sp>
        <p:nvSpPr>
          <p:cNvPr id="10" name="Text 8"/>
          <p:cNvSpPr/>
          <p:nvPr/>
        </p:nvSpPr>
        <p:spPr>
          <a:xfrm>
            <a:off x="7269480" y="1508760"/>
            <a:ext cx="4663440" cy="640080"/>
          </a:xfrm>
          <a:prstGeom prst="rect">
            <a:avLst/>
          </a:prstGeom>
          <a:noFill/>
          <a:ln/>
        </p:spPr>
        <p:txBody>
          <a:bodyPr wrap="square" rtlCol="0" anchor="ctr"/>
          <a:lstStyle/>
          <a:p>
            <a:pPr indent="0" marL="0">
              <a:lnSpc>
                <a:spcPct val="95000"/>
              </a:lnSpc>
              <a:buNone/>
            </a:pPr>
            <a:r>
              <a:rPr lang="en-US" sz="1100" b="1" dirty="0">
                <a:solidFill>
                  <a:srgbClr val="173A68"/>
                </a:solidFill>
                <a:latin typeface="Calibri" pitchFamily="34" charset="0"/>
                <a:ea typeface="Calibri" pitchFamily="34" charset="-122"/>
                <a:cs typeface="Calibri" pitchFamily="34" charset="-120"/>
              </a:rPr>
              <a:t>NIV Modes  </a:t>
            </a:r>
            <a:pPr indent="0" marL="0">
              <a:lnSpc>
                <a:spcPct val="95000"/>
              </a:lnSpc>
              <a:buNone/>
            </a:pPr>
            <a:r>
              <a:rPr lang="en-US" sz="1500" dirty="0">
                <a:solidFill>
                  <a:srgbClr val="1B2433"/>
                </a:solidFill>
                <a:latin typeface="Calibri" pitchFamily="34" charset="0"/>
                <a:ea typeface="Calibri" pitchFamily="34" charset="-122"/>
                <a:cs typeface="Calibri" pitchFamily="34" charset="-120"/>
              </a:rPr>
              <a:t>CPAP vs BiPAP</a:t>
            </a:r>
            <a:endParaRPr lang="en-US" sz="1100" dirty="0"/>
          </a:p>
        </p:txBody>
      </p:sp>
      <p:sp>
        <p:nvSpPr>
          <p:cNvPr id="11" name="Text 9"/>
          <p:cNvSpPr/>
          <p:nvPr/>
        </p:nvSpPr>
        <p:spPr>
          <a:xfrm>
            <a:off x="6355080" y="2395728"/>
            <a:ext cx="777240" cy="548640"/>
          </a:xfrm>
          <a:prstGeom prst="roundRect">
            <a:avLst>
              <a:gd name="adj" fmla="val 13333"/>
            </a:avLst>
          </a:prstGeom>
          <a:solidFill>
            <a:srgbClr val="1B63C4"/>
          </a:solid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5.5</a:t>
            </a:r>
            <a:endParaRPr lang="en-US" sz="1600" dirty="0"/>
          </a:p>
        </p:txBody>
      </p:sp>
      <p:sp>
        <p:nvSpPr>
          <p:cNvPr id="12" name="Text 10"/>
          <p:cNvSpPr/>
          <p:nvPr/>
        </p:nvSpPr>
        <p:spPr>
          <a:xfrm>
            <a:off x="7269480" y="2350008"/>
            <a:ext cx="4663440" cy="640080"/>
          </a:xfrm>
          <a:prstGeom prst="rect">
            <a:avLst/>
          </a:prstGeom>
          <a:noFill/>
          <a:ln/>
        </p:spPr>
        <p:txBody>
          <a:bodyPr wrap="square" rtlCol="0" anchor="ctr"/>
          <a:lstStyle/>
          <a:p>
            <a:pPr indent="0" marL="0">
              <a:lnSpc>
                <a:spcPct val="95000"/>
              </a:lnSpc>
              <a:buNone/>
            </a:pPr>
            <a:r>
              <a:rPr lang="en-US" sz="1100" b="1" dirty="0">
                <a:solidFill>
                  <a:srgbClr val="173A68"/>
                </a:solidFill>
                <a:latin typeface="Calibri" pitchFamily="34" charset="0"/>
                <a:ea typeface="Calibri" pitchFamily="34" charset="-122"/>
                <a:cs typeface="Calibri" pitchFamily="34" charset="-120"/>
              </a:rPr>
              <a:t>PRVC  </a:t>
            </a:r>
            <a:pPr indent="0" marL="0">
              <a:lnSpc>
                <a:spcPct val="95000"/>
              </a:lnSpc>
              <a:buNone/>
            </a:pPr>
            <a:r>
              <a:rPr lang="en-US" sz="1500" dirty="0">
                <a:solidFill>
                  <a:srgbClr val="1B2433"/>
                </a:solidFill>
                <a:latin typeface="Calibri" pitchFamily="34" charset="0"/>
                <a:ea typeface="Calibri" pitchFamily="34" charset="-122"/>
                <a:cs typeface="Calibri" pitchFamily="34" charset="-120"/>
              </a:rPr>
              <a:t>PRVC and Newer Modes</a:t>
            </a:r>
            <a:endParaRPr lang="en-US" sz="1100" dirty="0"/>
          </a:p>
        </p:txBody>
      </p:sp>
      <p:sp>
        <p:nvSpPr>
          <p:cNvPr id="13" name="Text 11"/>
          <p:cNvSpPr/>
          <p:nvPr/>
        </p:nvSpPr>
        <p:spPr>
          <a:xfrm>
            <a:off x="6355080" y="3236976"/>
            <a:ext cx="777240" cy="548640"/>
          </a:xfrm>
          <a:prstGeom prst="roundRect">
            <a:avLst>
              <a:gd name="adj" fmla="val 13333"/>
            </a:avLst>
          </a:prstGeom>
          <a:solidFill>
            <a:srgbClr val="1B63C4"/>
          </a:solid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5.6</a:t>
            </a:r>
            <a:endParaRPr lang="en-US" sz="1600" dirty="0"/>
          </a:p>
        </p:txBody>
      </p:sp>
      <p:sp>
        <p:nvSpPr>
          <p:cNvPr id="14" name="Text 12"/>
          <p:cNvSpPr/>
          <p:nvPr/>
        </p:nvSpPr>
        <p:spPr>
          <a:xfrm>
            <a:off x="7269480" y="3191256"/>
            <a:ext cx="4663440" cy="640080"/>
          </a:xfrm>
          <a:prstGeom prst="rect">
            <a:avLst/>
          </a:prstGeom>
          <a:noFill/>
          <a:ln/>
        </p:spPr>
        <p:txBody>
          <a:bodyPr wrap="square" rtlCol="0" anchor="ctr"/>
          <a:lstStyle/>
          <a:p>
            <a:pPr indent="0" marL="0">
              <a:lnSpc>
                <a:spcPct val="95000"/>
              </a:lnSpc>
              <a:buNone/>
            </a:pPr>
            <a:r>
              <a:rPr lang="en-US" sz="1100" b="1" dirty="0">
                <a:solidFill>
                  <a:srgbClr val="173A68"/>
                </a:solidFill>
                <a:latin typeface="Calibri" pitchFamily="34" charset="0"/>
                <a:ea typeface="Calibri" pitchFamily="34" charset="-122"/>
                <a:cs typeface="Calibri" pitchFamily="34" charset="-120"/>
              </a:rPr>
              <a:t>Synchrony  </a:t>
            </a:r>
            <a:pPr indent="0" marL="0">
              <a:lnSpc>
                <a:spcPct val="95000"/>
              </a:lnSpc>
              <a:buNone/>
            </a:pPr>
            <a:r>
              <a:rPr lang="en-US" sz="1500" dirty="0">
                <a:solidFill>
                  <a:srgbClr val="1B2433"/>
                </a:solidFill>
                <a:latin typeface="Calibri" pitchFamily="34" charset="0"/>
                <a:ea typeface="Calibri" pitchFamily="34" charset="-122"/>
                <a:cs typeface="Calibri" pitchFamily="34" charset="-120"/>
              </a:rPr>
              <a:t>Trigger Sensitivity &amp; Inspiratory Rise Time</a:t>
            </a:r>
            <a:endParaRPr lang="en-US" sz="1100" dirty="0"/>
          </a:p>
        </p:txBody>
      </p:sp>
      <p:sp>
        <p:nvSpPr>
          <p:cNvPr id="15" name="Text 13"/>
          <p:cNvSpPr/>
          <p:nvPr/>
        </p:nvSpPr>
        <p:spPr>
          <a:xfrm>
            <a:off x="548640" y="6172200"/>
            <a:ext cx="640080" cy="320040"/>
          </a:xfrm>
          <a:prstGeom prst="rect">
            <a:avLst/>
          </a:prstGeom>
          <a:noFill/>
          <a:ln/>
        </p:spPr>
        <p:txBody>
          <a:bodyPr wrap="square" rtlCol="0" anchor="ctr"/>
          <a:lstStyle/>
          <a:p>
            <a:pPr indent="0" marL="0">
              <a:buNone/>
            </a:pPr>
            <a:r>
              <a:rPr lang="en-US" sz="1200" b="1" dirty="0">
                <a:solidFill>
                  <a:srgbClr val="5B6472"/>
                </a:solidFill>
                <a:latin typeface="Calibri" pitchFamily="34" charset="0"/>
                <a:ea typeface="Calibri" pitchFamily="34" charset="-122"/>
                <a:cs typeface="Calibri" pitchFamily="34" charset="-120"/>
              </a:rPr>
              <a:t>Then:</a:t>
            </a:r>
            <a:endParaRPr lang="en-US" sz="1200" dirty="0"/>
          </a:p>
        </p:txBody>
      </p:sp>
      <p:sp>
        <p:nvSpPr>
          <p:cNvPr id="16" name="Text 14"/>
          <p:cNvSpPr/>
          <p:nvPr/>
        </p:nvSpPr>
        <p:spPr>
          <a:xfrm>
            <a:off x="1234440" y="6172200"/>
            <a:ext cx="2194560" cy="347472"/>
          </a:xfrm>
          <a:prstGeom prst="roundRect">
            <a:avLst>
              <a:gd name="adj" fmla="val 50000"/>
            </a:avLst>
          </a:prstGeom>
          <a:solidFill>
            <a:srgbClr val="1B63C4"/>
          </a:solid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Knowledge Check</a:t>
            </a:r>
            <a:endParaRPr lang="en-US" sz="1100" dirty="0"/>
          </a:p>
        </p:txBody>
      </p:sp>
      <p:sp>
        <p:nvSpPr>
          <p:cNvPr id="17" name="Text 15"/>
          <p:cNvSpPr/>
          <p:nvPr/>
        </p:nvSpPr>
        <p:spPr>
          <a:xfrm>
            <a:off x="3520440" y="6172200"/>
            <a:ext cx="2194560" cy="347472"/>
          </a:xfrm>
          <a:prstGeom prst="roundRect">
            <a:avLst>
              <a:gd name="adj" fmla="val 50000"/>
            </a:avLst>
          </a:prstGeom>
          <a:solidFill>
            <a:srgbClr val="7C3AED"/>
          </a:solid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Match</a:t>
            </a:r>
            <a:endParaRPr lang="en-US" sz="1100" dirty="0"/>
          </a:p>
        </p:txBody>
      </p:sp>
      <p:sp>
        <p:nvSpPr>
          <p:cNvPr id="18" name="Text 16"/>
          <p:cNvSpPr/>
          <p:nvPr/>
        </p:nvSpPr>
        <p:spPr>
          <a:xfrm>
            <a:off x="5806440" y="6172200"/>
            <a:ext cx="2194560" cy="347472"/>
          </a:xfrm>
          <a:prstGeom prst="roundRect">
            <a:avLst>
              <a:gd name="adj" fmla="val 50000"/>
            </a:avLst>
          </a:prstGeom>
          <a:solidFill>
            <a:srgbClr val="B4690E"/>
          </a:solid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Scenario</a:t>
            </a:r>
            <a:endParaRPr lang="en-US" sz="1100" dirty="0"/>
          </a:p>
        </p:txBody>
      </p:sp>
      <p:sp>
        <p:nvSpPr>
          <p:cNvPr id="19" name="Text 17"/>
          <p:cNvSpPr/>
          <p:nvPr/>
        </p:nvSpPr>
        <p:spPr>
          <a:xfrm>
            <a:off x="8092440" y="6172200"/>
            <a:ext cx="2194560" cy="347472"/>
          </a:xfrm>
          <a:prstGeom prst="roundRect">
            <a:avLst>
              <a:gd name="adj" fmla="val 50000"/>
            </a:avLst>
          </a:prstGeom>
          <a:solidFill>
            <a:srgbClr val="1C7D4D"/>
          </a:solid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Simulator</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502920"/>
            <a:ext cx="5943600" cy="365760"/>
          </a:xfrm>
          <a:prstGeom prst="rect">
            <a:avLst/>
          </a:prstGeom>
          <a:noFill/>
          <a:ln/>
        </p:spPr>
        <p:txBody>
          <a:bodyPr wrap="square" rtlCol="0" anchor="ctr"/>
          <a:lstStyle/>
          <a:p>
            <a:pPr indent="0" marL="0">
              <a:buNone/>
            </a:pPr>
            <a:r>
              <a:rPr lang="en-US" sz="1250" b="1" dirty="0">
                <a:solidFill>
                  <a:srgbClr val="1B63C4"/>
                </a:solidFill>
                <a:latin typeface="Calibri" pitchFamily="34" charset="0"/>
                <a:ea typeface="Calibri" pitchFamily="34" charset="-122"/>
                <a:cs typeface="Calibri" pitchFamily="34" charset="-120"/>
              </a:rPr>
              <a:t>5.1 · Targeting</a:t>
            </a:r>
            <a:endParaRPr lang="en-US" sz="1250" dirty="0"/>
          </a:p>
        </p:txBody>
      </p:sp>
      <p:sp>
        <p:nvSpPr>
          <p:cNvPr id="3" name="Text 1"/>
          <p:cNvSpPr/>
          <p:nvPr/>
        </p:nvSpPr>
        <p:spPr>
          <a:xfrm>
            <a:off x="548640" y="868680"/>
            <a:ext cx="8595360" cy="1051560"/>
          </a:xfrm>
          <a:prstGeom prst="rect">
            <a:avLst/>
          </a:prstGeom>
          <a:noFill/>
          <a:ln/>
        </p:spPr>
        <p:txBody>
          <a:bodyPr wrap="square" rtlCol="0" anchor="t"/>
          <a:lstStyle/>
          <a:p>
            <a:pPr indent="0" marL="0">
              <a:lnSpc>
                <a:spcPct val="95000"/>
              </a:lnSpc>
              <a:buNone/>
            </a:pPr>
            <a:r>
              <a:rPr lang="en-US" sz="2900" b="1" dirty="0">
                <a:solidFill>
                  <a:srgbClr val="173A68"/>
                </a:solidFill>
                <a:latin typeface="Cambria" pitchFamily="34" charset="0"/>
                <a:ea typeface="Cambria" pitchFamily="34" charset="-122"/>
                <a:cs typeface="Cambria" pitchFamily="34" charset="-120"/>
              </a:rPr>
              <a:t>Volume vs Pressure Targeting</a:t>
            </a:r>
            <a:endParaRPr lang="en-US" sz="2900" dirty="0"/>
          </a:p>
        </p:txBody>
      </p:sp>
      <p:sp>
        <p:nvSpPr>
          <p:cNvPr id="4" name="Text 2"/>
          <p:cNvSpPr/>
          <p:nvPr/>
        </p:nvSpPr>
        <p:spPr>
          <a:xfrm>
            <a:off x="10561320" y="457200"/>
            <a:ext cx="1097280" cy="1097280"/>
          </a:xfrm>
          <a:prstGeom prst="roundRect">
            <a:avLst>
              <a:gd name="adj" fmla="val 10000"/>
            </a:avLst>
          </a:prstGeom>
          <a:solidFill>
            <a:srgbClr val="173A68"/>
          </a:solid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5.1</a:t>
            </a:r>
            <a:endParaRPr lang="en-US" sz="2600" dirty="0"/>
          </a:p>
        </p:txBody>
      </p:sp>
      <p:sp>
        <p:nvSpPr>
          <p:cNvPr id="5" name="Text 3"/>
          <p:cNvSpPr/>
          <p:nvPr/>
        </p:nvSpPr>
        <p:spPr>
          <a:xfrm>
            <a:off x="548640" y="2148840"/>
            <a:ext cx="10058400" cy="4114800"/>
          </a:xfrm>
          <a:prstGeom prst="rect">
            <a:avLst/>
          </a:prstGeom>
          <a:noFill/>
          <a:ln/>
        </p:spPr>
        <p:txBody>
          <a:bodyPr wrap="square" rtlCol="0" anchor="t"/>
          <a:lstStyle/>
          <a:p>
            <a:pPr marL="177800" indent="-177800">
              <a:lnSpc>
                <a:spcPct val="100000"/>
              </a:lnSpc>
              <a:spcAft>
                <a:spcPts val="900"/>
              </a:spcAft>
              <a:buSzPct val="100000"/>
              <a:buChar char="•"/>
            </a:pPr>
            <a:r>
              <a:rPr lang="en-US" sz="1550" dirty="0">
                <a:solidFill>
                  <a:srgbClr val="1B2433"/>
                </a:solidFill>
                <a:latin typeface="Calibri" pitchFamily="34" charset="0"/>
                <a:ea typeface="Calibri" pitchFamily="34" charset="-122"/>
                <a:cs typeface="Calibri" pitchFamily="34" charset="-120"/>
              </a:rPr>
              <a:t>Every vent breath guarantees one thing and lets the other float — like inflating a tire: pump to a set volume of air and the pressure lands where it…</a:t>
            </a:r>
            <a:endParaRPr lang="en-US" sz="1550" dirty="0"/>
          </a:p>
          <a:p>
            <a:pPr marL="177800" indent="-177800">
              <a:lnSpc>
                <a:spcPct val="100000"/>
              </a:lnSpc>
              <a:spcAft>
                <a:spcPts val="900"/>
              </a:spcAft>
              <a:buSzPct val="100000"/>
              <a:buChar char="•"/>
            </a:pPr>
            <a:r>
              <a:rPr lang="en-US" sz="1550" dirty="0">
                <a:solidFill>
                  <a:srgbClr val="1B2433"/>
                </a:solidFill>
                <a:latin typeface="Calibri" pitchFamily="34" charset="0"/>
                <a:ea typeface="Calibri" pitchFamily="34" charset="-122"/>
                <a:cs typeface="Calibri" pitchFamily="34" charset="-120"/>
              </a:rPr>
              <a:t>Volume-targeted (AC/VC): you set Vt — vent delivers it.</a:t>
            </a:r>
            <a:endParaRPr lang="en-US" sz="1550" dirty="0"/>
          </a:p>
          <a:p>
            <a:pPr marL="177800" indent="-177800">
              <a:lnSpc>
                <a:spcPct val="100000"/>
              </a:lnSpc>
              <a:spcAft>
                <a:spcPts val="900"/>
              </a:spcAft>
              <a:buSzPct val="100000"/>
              <a:buChar char="•"/>
            </a:pPr>
            <a:r>
              <a:rPr lang="en-US" sz="1550" dirty="0">
                <a:solidFill>
                  <a:srgbClr val="1B2433"/>
                </a:solidFill>
                <a:latin typeface="Calibri" pitchFamily="34" charset="0"/>
                <a:ea typeface="Calibri" pitchFamily="34" charset="-122"/>
                <a:cs typeface="Calibri" pitchFamily="34" charset="-120"/>
              </a:rPr>
              <a:t>Pressure-targeted (AC/PC): you set inspiratory pressure — vent delivers it.</a:t>
            </a:r>
            <a:endParaRPr lang="en-US" sz="1550" dirty="0"/>
          </a:p>
          <a:p>
            <a:pPr marL="177800" indent="-177800">
              <a:lnSpc>
                <a:spcPct val="100000"/>
              </a:lnSpc>
              <a:spcAft>
                <a:spcPts val="900"/>
              </a:spcAft>
              <a:buSzPct val="100000"/>
              <a:buChar char="•"/>
            </a:pPr>
            <a:r>
              <a:rPr lang="en-US" sz="1550" dirty="0">
                <a:solidFill>
                  <a:srgbClr val="1B2433"/>
                </a:solidFill>
                <a:latin typeface="Calibri" pitchFamily="34" charset="0"/>
                <a:ea typeface="Calibri" pitchFamily="34" charset="-122"/>
                <a:cs typeface="Calibri" pitchFamily="34" charset="-120"/>
              </a:rPr>
              <a:t>Trade-off: AC/VC gives predictable minute ventilation but variable pressure.</a:t>
            </a:r>
            <a:endParaRPr lang="en-US" sz="15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502920"/>
            <a:ext cx="5943600" cy="365760"/>
          </a:xfrm>
          <a:prstGeom prst="rect">
            <a:avLst/>
          </a:prstGeom>
          <a:noFill/>
          <a:ln/>
        </p:spPr>
        <p:txBody>
          <a:bodyPr wrap="square" rtlCol="0" anchor="ctr"/>
          <a:lstStyle/>
          <a:p>
            <a:pPr indent="0" marL="0">
              <a:buNone/>
            </a:pPr>
            <a:r>
              <a:rPr lang="en-US" sz="1250" b="1" dirty="0">
                <a:solidFill>
                  <a:srgbClr val="1B63C4"/>
                </a:solidFill>
                <a:latin typeface="Calibri" pitchFamily="34" charset="0"/>
                <a:ea typeface="Calibri" pitchFamily="34" charset="-122"/>
                <a:cs typeface="Calibri" pitchFamily="34" charset="-120"/>
              </a:rPr>
              <a:t>5.2 · Assist-Control</a:t>
            </a:r>
            <a:endParaRPr lang="en-US" sz="1250" dirty="0"/>
          </a:p>
        </p:txBody>
      </p:sp>
      <p:sp>
        <p:nvSpPr>
          <p:cNvPr id="3" name="Text 1"/>
          <p:cNvSpPr/>
          <p:nvPr/>
        </p:nvSpPr>
        <p:spPr>
          <a:xfrm>
            <a:off x="548640" y="868680"/>
            <a:ext cx="8595360" cy="1051560"/>
          </a:xfrm>
          <a:prstGeom prst="rect">
            <a:avLst/>
          </a:prstGeom>
          <a:noFill/>
          <a:ln/>
        </p:spPr>
        <p:txBody>
          <a:bodyPr wrap="square" rtlCol="0" anchor="t"/>
          <a:lstStyle/>
          <a:p>
            <a:pPr indent="0" marL="0">
              <a:lnSpc>
                <a:spcPct val="95000"/>
              </a:lnSpc>
              <a:buNone/>
            </a:pPr>
            <a:r>
              <a:rPr lang="en-US" sz="2900" b="1" dirty="0">
                <a:solidFill>
                  <a:srgbClr val="173A68"/>
                </a:solidFill>
                <a:latin typeface="Cambria" pitchFamily="34" charset="0"/>
                <a:ea typeface="Cambria" pitchFamily="34" charset="-122"/>
                <a:cs typeface="Cambria" pitchFamily="34" charset="-120"/>
              </a:rPr>
              <a:t>What "Control" Really Means</a:t>
            </a:r>
            <a:endParaRPr lang="en-US" sz="2900" dirty="0"/>
          </a:p>
        </p:txBody>
      </p:sp>
      <p:sp>
        <p:nvSpPr>
          <p:cNvPr id="4" name="Text 2"/>
          <p:cNvSpPr/>
          <p:nvPr/>
        </p:nvSpPr>
        <p:spPr>
          <a:xfrm>
            <a:off x="10561320" y="457200"/>
            <a:ext cx="1097280" cy="1097280"/>
          </a:xfrm>
          <a:prstGeom prst="roundRect">
            <a:avLst>
              <a:gd name="adj" fmla="val 10000"/>
            </a:avLst>
          </a:prstGeom>
          <a:solidFill>
            <a:srgbClr val="173A68"/>
          </a:solid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5.2</a:t>
            </a:r>
            <a:endParaRPr lang="en-US" sz="2600" dirty="0"/>
          </a:p>
        </p:txBody>
      </p:sp>
      <p:sp>
        <p:nvSpPr>
          <p:cNvPr id="5" name="Text 3"/>
          <p:cNvSpPr/>
          <p:nvPr/>
        </p:nvSpPr>
        <p:spPr>
          <a:xfrm>
            <a:off x="548640" y="2148840"/>
            <a:ext cx="6309360" cy="4114800"/>
          </a:xfrm>
          <a:prstGeom prst="rect">
            <a:avLst/>
          </a:prstGeom>
          <a:noFill/>
          <a:ln/>
        </p:spPr>
        <p:txBody>
          <a:bodyPr wrap="square" rtlCol="0" anchor="t"/>
          <a:lstStyle/>
          <a:p>
            <a:pPr marL="177800" indent="-177800">
              <a:lnSpc>
                <a:spcPct val="100000"/>
              </a:lnSpc>
              <a:spcAft>
                <a:spcPts val="900"/>
              </a:spcAft>
              <a:buSzPct val="100000"/>
              <a:buChar char="•"/>
            </a:pPr>
            <a:r>
              <a:rPr lang="en-US" sz="1550" dirty="0">
                <a:solidFill>
                  <a:srgbClr val="1B2433"/>
                </a:solidFill>
                <a:latin typeface="Calibri" pitchFamily="34" charset="0"/>
                <a:ea typeface="Calibri" pitchFamily="34" charset="-122"/>
                <a:cs typeface="Calibri" pitchFamily="34" charset="-120"/>
              </a:rPr>
              <a:t>"Control" does NOT mean the patient is locked out.</a:t>
            </a:r>
            <a:endParaRPr lang="en-US" sz="1550" dirty="0"/>
          </a:p>
          <a:p>
            <a:pPr marL="177800" indent="-177800">
              <a:lnSpc>
                <a:spcPct val="100000"/>
              </a:lnSpc>
              <a:spcAft>
                <a:spcPts val="900"/>
              </a:spcAft>
              <a:buSzPct val="100000"/>
              <a:buChar char="•"/>
            </a:pPr>
            <a:r>
              <a:rPr lang="en-US" sz="1550" dirty="0">
                <a:solidFill>
                  <a:srgbClr val="1B2433"/>
                </a:solidFill>
                <a:latin typeface="Calibri" pitchFamily="34" charset="0"/>
                <a:ea typeface="Calibri" pitchFamily="34" charset="-122"/>
                <a:cs typeface="Calibri" pitchFamily="34" charset="-120"/>
              </a:rPr>
              <a:t>AC guarantees a MINIMUM number of breaths per minute (set by RR).</a:t>
            </a:r>
            <a:endParaRPr lang="en-US" sz="1550" dirty="0"/>
          </a:p>
          <a:p>
            <a:pPr marL="177800" indent="-177800">
              <a:lnSpc>
                <a:spcPct val="100000"/>
              </a:lnSpc>
              <a:spcAft>
                <a:spcPts val="900"/>
              </a:spcAft>
              <a:buSzPct val="100000"/>
              <a:buChar char="•"/>
            </a:pPr>
            <a:r>
              <a:rPr lang="en-US" sz="1550" dirty="0">
                <a:solidFill>
                  <a:srgbClr val="1B2433"/>
                </a:solidFill>
                <a:latin typeface="Calibri" pitchFamily="34" charset="0"/>
                <a:ea typeface="Calibri" pitchFamily="34" charset="-122"/>
                <a:cs typeface="Calibri" pitchFamily="34" charset="-120"/>
              </a:rPr>
              <a:t>Historical note: the original mode was CMV (Continuous Mandatory Ventilation) — patient locked out completely.</a:t>
            </a:r>
            <a:endParaRPr lang="en-US" sz="1550" dirty="0"/>
          </a:p>
          <a:p>
            <a:pPr marL="177800" indent="-177800">
              <a:lnSpc>
                <a:spcPct val="100000"/>
              </a:lnSpc>
              <a:spcAft>
                <a:spcPts val="900"/>
              </a:spcAft>
              <a:buSzPct val="100000"/>
              <a:buChar char="•"/>
            </a:pPr>
            <a:r>
              <a:rPr lang="en-US" sz="1550" dirty="0">
                <a:solidFill>
                  <a:srgbClr val="1B2433"/>
                </a:solidFill>
                <a:latin typeface="Calibri" pitchFamily="34" charset="0"/>
                <a:ea typeface="Calibri" pitchFamily="34" charset="-122"/>
                <a:cs typeface="Calibri" pitchFamily="34" charset="-120"/>
              </a:rPr>
              <a:t>Tachypneic patient on AC can stack breaths and develop auto-PEEP.</a:t>
            </a:r>
            <a:endParaRPr lang="en-US" sz="1550" dirty="0"/>
          </a:p>
        </p:txBody>
      </p:sp>
      <p:sp>
        <p:nvSpPr>
          <p:cNvPr id="6" name="Shape 4"/>
          <p:cNvSpPr/>
          <p:nvPr/>
        </p:nvSpPr>
        <p:spPr>
          <a:xfrm>
            <a:off x="7315200" y="2148840"/>
            <a:ext cx="4325112" cy="3840480"/>
          </a:xfrm>
          <a:prstGeom prst="roundRect">
            <a:avLst>
              <a:gd name="adj" fmla="val 2381"/>
            </a:avLst>
          </a:prstGeom>
          <a:solidFill>
            <a:srgbClr val="FBEFDD"/>
          </a:solidFill>
          <a:ln/>
        </p:spPr>
      </p:sp>
      <p:sp>
        <p:nvSpPr>
          <p:cNvPr id="7" name="Text 5"/>
          <p:cNvSpPr/>
          <p:nvPr/>
        </p:nvSpPr>
        <p:spPr>
          <a:xfrm>
            <a:off x="7589520" y="2377440"/>
            <a:ext cx="3776472" cy="320040"/>
          </a:xfrm>
          <a:prstGeom prst="rect">
            <a:avLst/>
          </a:prstGeom>
          <a:noFill/>
          <a:ln/>
        </p:spPr>
        <p:txBody>
          <a:bodyPr wrap="square" rtlCol="0" anchor="ctr"/>
          <a:lstStyle/>
          <a:p>
            <a:pPr indent="0" marL="0">
              <a:buNone/>
            </a:pPr>
            <a:r>
              <a:rPr lang="en-US" sz="1200" b="1" spc="200" kern="0" dirty="0">
                <a:solidFill>
                  <a:srgbClr val="9C540B"/>
                </a:solidFill>
                <a:latin typeface="Calibri" pitchFamily="34" charset="0"/>
                <a:ea typeface="Calibri" pitchFamily="34" charset="-122"/>
                <a:cs typeface="Calibri" pitchFamily="34" charset="-120"/>
              </a:rPr>
              <a:t>CLINICAL PEARL</a:t>
            </a:r>
            <a:endParaRPr lang="en-US" sz="1200" dirty="0"/>
          </a:p>
        </p:txBody>
      </p:sp>
      <p:sp>
        <p:nvSpPr>
          <p:cNvPr id="8" name="Text 6"/>
          <p:cNvSpPr/>
          <p:nvPr/>
        </p:nvSpPr>
        <p:spPr>
          <a:xfrm>
            <a:off x="7589520" y="2715768"/>
            <a:ext cx="3776472" cy="640080"/>
          </a:xfrm>
          <a:prstGeom prst="rect">
            <a:avLst/>
          </a:prstGeom>
          <a:noFill/>
          <a:ln/>
        </p:spPr>
        <p:txBody>
          <a:bodyPr wrap="square" rtlCol="0" anchor="t"/>
          <a:lstStyle/>
          <a:p>
            <a:pPr indent="0" marL="0">
              <a:lnSpc>
                <a:spcPct val="95000"/>
              </a:lnSpc>
              <a:buNone/>
            </a:pPr>
            <a:r>
              <a:rPr lang="en-US" sz="1700" b="1" dirty="0">
                <a:solidFill>
                  <a:srgbClr val="173A68"/>
                </a:solidFill>
                <a:latin typeface="Cambria" pitchFamily="34" charset="0"/>
                <a:ea typeface="Cambria" pitchFamily="34" charset="-122"/>
                <a:cs typeface="Cambria" pitchFamily="34" charset="-120"/>
              </a:rPr>
              <a:t>Pure AC = full breath every time</a:t>
            </a:r>
            <a:endParaRPr lang="en-US" sz="1700" dirty="0"/>
          </a:p>
        </p:txBody>
      </p:sp>
      <p:sp>
        <p:nvSpPr>
          <p:cNvPr id="9" name="Text 7"/>
          <p:cNvSpPr/>
          <p:nvPr/>
        </p:nvSpPr>
        <p:spPr>
          <a:xfrm>
            <a:off x="7589520" y="3474720"/>
            <a:ext cx="3776472" cy="2286000"/>
          </a:xfrm>
          <a:prstGeom prst="rect">
            <a:avLst/>
          </a:prstGeom>
          <a:noFill/>
          <a:ln/>
        </p:spPr>
        <p:txBody>
          <a:bodyPr wrap="square" rtlCol="0" anchor="t"/>
          <a:lstStyle/>
          <a:p>
            <a:pPr indent="0" marL="0">
              <a:lnSpc>
                <a:spcPct val="103000"/>
              </a:lnSpc>
              <a:buNone/>
            </a:pPr>
            <a:r>
              <a:rPr lang="en-US" sz="1350" dirty="0">
                <a:solidFill>
                  <a:srgbClr val="1B2433"/>
                </a:solidFill>
                <a:latin typeface="Calibri" pitchFamily="34" charset="0"/>
                <a:ea typeface="Calibri" pitchFamily="34" charset="-122"/>
                <a:cs typeface="Calibri" pitchFamily="34" charset="-120"/>
              </a:rPr>
              <a:t>There are no small supportive breaths in AC. Every triggered breath gets the full set Vt.</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8640" y="502920"/>
            <a:ext cx="5943600" cy="365760"/>
          </a:xfrm>
          <a:prstGeom prst="rect">
            <a:avLst/>
          </a:prstGeom>
          <a:noFill/>
          <a:ln/>
        </p:spPr>
        <p:txBody>
          <a:bodyPr wrap="square" rtlCol="0" anchor="ctr"/>
          <a:lstStyle/>
          <a:p>
            <a:pPr indent="0" marL="0">
              <a:buNone/>
            </a:pPr>
            <a:r>
              <a:rPr lang="en-US" sz="1250" b="1" dirty="0">
                <a:solidFill>
                  <a:srgbClr val="1B63C4"/>
                </a:solidFill>
                <a:latin typeface="Calibri" pitchFamily="34" charset="0"/>
                <a:ea typeface="Calibri" pitchFamily="34" charset="-122"/>
                <a:cs typeface="Calibri" pitchFamily="34" charset="-120"/>
              </a:rPr>
              <a:t>5.3 · SIMV &amp; Pressure Support</a:t>
            </a:r>
            <a:endParaRPr lang="en-US" sz="1250" dirty="0"/>
          </a:p>
        </p:txBody>
      </p:sp>
      <p:sp>
        <p:nvSpPr>
          <p:cNvPr id="3" name="Text 1"/>
          <p:cNvSpPr/>
          <p:nvPr/>
        </p:nvSpPr>
        <p:spPr>
          <a:xfrm>
            <a:off x="548640" y="868680"/>
            <a:ext cx="8595360" cy="1051560"/>
          </a:xfrm>
          <a:prstGeom prst="rect">
            <a:avLst/>
          </a:prstGeom>
          <a:noFill/>
          <a:ln/>
        </p:spPr>
        <p:txBody>
          <a:bodyPr wrap="square" rtlCol="0" anchor="t"/>
          <a:lstStyle/>
          <a:p>
            <a:pPr indent="0" marL="0">
              <a:lnSpc>
                <a:spcPct val="95000"/>
              </a:lnSpc>
              <a:buNone/>
            </a:pPr>
            <a:r>
              <a:rPr lang="en-US" sz="2900" b="1" dirty="0">
                <a:solidFill>
                  <a:srgbClr val="173A68"/>
                </a:solidFill>
                <a:latin typeface="Cambria" pitchFamily="34" charset="0"/>
                <a:ea typeface="Cambria" pitchFamily="34" charset="-122"/>
                <a:cs typeface="Cambria" pitchFamily="34" charset="-120"/>
              </a:rPr>
              <a:t>SIMV and Why It Fell Out of Favor</a:t>
            </a:r>
            <a:endParaRPr lang="en-US" sz="2900" dirty="0"/>
          </a:p>
        </p:txBody>
      </p:sp>
      <p:sp>
        <p:nvSpPr>
          <p:cNvPr id="4" name="Text 2"/>
          <p:cNvSpPr/>
          <p:nvPr/>
        </p:nvSpPr>
        <p:spPr>
          <a:xfrm>
            <a:off x="10561320" y="457200"/>
            <a:ext cx="1097280" cy="1097280"/>
          </a:xfrm>
          <a:prstGeom prst="roundRect">
            <a:avLst>
              <a:gd name="adj" fmla="val 10000"/>
            </a:avLst>
          </a:prstGeom>
          <a:solidFill>
            <a:srgbClr val="173A68"/>
          </a:solid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5.3</a:t>
            </a:r>
            <a:endParaRPr lang="en-US" sz="2600" dirty="0"/>
          </a:p>
        </p:txBody>
      </p:sp>
      <p:sp>
        <p:nvSpPr>
          <p:cNvPr id="5" name="Text 3"/>
          <p:cNvSpPr/>
          <p:nvPr/>
        </p:nvSpPr>
        <p:spPr>
          <a:xfrm>
            <a:off x="548640" y="2148840"/>
            <a:ext cx="6309360" cy="4114800"/>
          </a:xfrm>
          <a:prstGeom prst="rect">
            <a:avLst/>
          </a:prstGeom>
          <a:noFill/>
          <a:ln/>
        </p:spPr>
        <p:txBody>
          <a:bodyPr wrap="square" rtlCol="0" anchor="t"/>
          <a:lstStyle/>
          <a:p>
            <a:pPr marL="177800" indent="-177800">
              <a:lnSpc>
                <a:spcPct val="100000"/>
              </a:lnSpc>
              <a:spcAft>
                <a:spcPts val="900"/>
              </a:spcAft>
              <a:buSzPct val="100000"/>
              <a:buChar char="•"/>
            </a:pPr>
            <a:r>
              <a:rPr lang="en-US" sz="1550" dirty="0">
                <a:solidFill>
                  <a:srgbClr val="1B2433"/>
                </a:solidFill>
                <a:latin typeface="Calibri" pitchFamily="34" charset="0"/>
                <a:ea typeface="Calibri" pitchFamily="34" charset="-122"/>
                <a:cs typeface="Calibri" pitchFamily="34" charset="-120"/>
              </a:rPr>
              <a:t>Synchronized Intermittent Mandatory Ventilation: vent delivers a SET rate of mandatory breaths.</a:t>
            </a:r>
            <a:endParaRPr lang="en-US" sz="1550" dirty="0"/>
          </a:p>
          <a:p>
            <a:pPr marL="177800" indent="-177800">
              <a:lnSpc>
                <a:spcPct val="100000"/>
              </a:lnSpc>
              <a:spcAft>
                <a:spcPts val="900"/>
              </a:spcAft>
              <a:buSzPct val="100000"/>
              <a:buChar char="•"/>
            </a:pPr>
            <a:r>
              <a:rPr lang="en-US" sz="1550" dirty="0">
                <a:solidFill>
                  <a:srgbClr val="1B2433"/>
                </a:solidFill>
                <a:latin typeface="Calibri" pitchFamily="34" charset="0"/>
                <a:ea typeface="Calibri" pitchFamily="34" charset="-122"/>
                <a:cs typeface="Calibri" pitchFamily="34" charset="-120"/>
              </a:rPr>
              <a:t>Originally designed as a weaning mode — set rate decreased as the patient improved.</a:t>
            </a:r>
            <a:endParaRPr lang="en-US" sz="1550" dirty="0"/>
          </a:p>
          <a:p>
            <a:pPr marL="177800" indent="-177800">
              <a:lnSpc>
                <a:spcPct val="100000"/>
              </a:lnSpc>
              <a:spcAft>
                <a:spcPts val="900"/>
              </a:spcAft>
              <a:buSzPct val="100000"/>
              <a:buChar char="•"/>
            </a:pPr>
            <a:r>
              <a:rPr lang="en-US" sz="1550" dirty="0">
                <a:solidFill>
                  <a:srgbClr val="1B2433"/>
                </a:solidFill>
                <a:latin typeface="Calibri" pitchFamily="34" charset="0"/>
                <a:ea typeface="Calibri" pitchFamily="34" charset="-122"/>
                <a:cs typeface="Calibri" pitchFamily="34" charset="-120"/>
              </a:rPr>
              <a:t>Esteban et al.</a:t>
            </a:r>
            <a:endParaRPr lang="en-US" sz="1550" dirty="0"/>
          </a:p>
          <a:p>
            <a:pPr marL="177800" indent="-177800">
              <a:lnSpc>
                <a:spcPct val="100000"/>
              </a:lnSpc>
              <a:spcAft>
                <a:spcPts val="900"/>
              </a:spcAft>
              <a:buSzPct val="100000"/>
              <a:buChar char="•"/>
            </a:pPr>
            <a:r>
              <a:rPr lang="en-US" sz="1550" dirty="0">
                <a:solidFill>
                  <a:srgbClr val="1B2433"/>
                </a:solidFill>
                <a:latin typeface="Calibri" pitchFamily="34" charset="0"/>
                <a:ea typeface="Calibri" pitchFamily="34" charset="-122"/>
                <a:cs typeface="Calibri" pitchFamily="34" charset="-120"/>
              </a:rPr>
              <a:t>Pressure Support (PSV): vent senses spontaneous effort and adds a fixed pressure (5–15 cmH₂O).</a:t>
            </a:r>
            <a:endParaRPr lang="en-US" sz="1550" dirty="0"/>
          </a:p>
        </p:txBody>
      </p:sp>
      <p:sp>
        <p:nvSpPr>
          <p:cNvPr id="6" name="Shape 4"/>
          <p:cNvSpPr/>
          <p:nvPr/>
        </p:nvSpPr>
        <p:spPr>
          <a:xfrm>
            <a:off x="7315200" y="2148840"/>
            <a:ext cx="4325112" cy="3840480"/>
          </a:xfrm>
          <a:prstGeom prst="roundRect">
            <a:avLst>
              <a:gd name="adj" fmla="val 2381"/>
            </a:avLst>
          </a:prstGeom>
          <a:solidFill>
            <a:srgbClr val="E7F0FD"/>
          </a:solidFill>
          <a:ln/>
        </p:spPr>
      </p:sp>
      <p:sp>
        <p:nvSpPr>
          <p:cNvPr id="7" name="Text 5"/>
          <p:cNvSpPr/>
          <p:nvPr/>
        </p:nvSpPr>
        <p:spPr>
          <a:xfrm>
            <a:off x="7589520" y="2377440"/>
            <a:ext cx="3776472" cy="320040"/>
          </a:xfrm>
          <a:prstGeom prst="rect">
            <a:avLst/>
          </a:prstGeom>
          <a:noFill/>
          <a:ln/>
        </p:spPr>
        <p:txBody>
          <a:bodyPr wrap="square" rtlCol="0" anchor="ctr"/>
          <a:lstStyle/>
          <a:p>
            <a:pPr indent="0" marL="0">
              <a:buNone/>
            </a:pPr>
            <a:r>
              <a:rPr lang="en-US" sz="1200" b="1" spc="200" kern="0" dirty="0">
                <a:solidFill>
                  <a:srgbClr val="1B63C4"/>
                </a:solidFill>
                <a:latin typeface="Calibri" pitchFamily="34" charset="0"/>
                <a:ea typeface="Calibri" pitchFamily="34" charset="-122"/>
                <a:cs typeface="Calibri" pitchFamily="34" charset="-120"/>
              </a:rPr>
              <a:t>EVIDENCE</a:t>
            </a:r>
            <a:endParaRPr lang="en-US" sz="1200" dirty="0"/>
          </a:p>
        </p:txBody>
      </p:sp>
      <p:sp>
        <p:nvSpPr>
          <p:cNvPr id="8" name="Text 6"/>
          <p:cNvSpPr/>
          <p:nvPr/>
        </p:nvSpPr>
        <p:spPr>
          <a:xfrm>
            <a:off x="7589520" y="2715768"/>
            <a:ext cx="3776472" cy="640080"/>
          </a:xfrm>
          <a:prstGeom prst="rect">
            <a:avLst/>
          </a:prstGeom>
          <a:noFill/>
          <a:ln/>
        </p:spPr>
        <p:txBody>
          <a:bodyPr wrap="square" rtlCol="0" anchor="t"/>
          <a:lstStyle/>
          <a:p>
            <a:pPr indent="0" marL="0">
              <a:lnSpc>
                <a:spcPct val="95000"/>
              </a:lnSpc>
              <a:buNone/>
            </a:pPr>
            <a:r>
              <a:rPr lang="en-US" sz="1700" b="1" dirty="0">
                <a:solidFill>
                  <a:srgbClr val="173A68"/>
                </a:solidFill>
                <a:latin typeface="Cambria" pitchFamily="34" charset="0"/>
                <a:ea typeface="Cambria" pitchFamily="34" charset="-122"/>
                <a:cs typeface="Cambria" pitchFamily="34" charset="-120"/>
              </a:rPr>
              <a:t>Esteban 1995</a:t>
            </a:r>
            <a:endParaRPr lang="en-US" sz="1700" dirty="0"/>
          </a:p>
        </p:txBody>
      </p:sp>
      <p:sp>
        <p:nvSpPr>
          <p:cNvPr id="9" name="Text 7"/>
          <p:cNvSpPr/>
          <p:nvPr/>
        </p:nvSpPr>
        <p:spPr>
          <a:xfrm>
            <a:off x="7589520" y="3474720"/>
            <a:ext cx="3776472" cy="2286000"/>
          </a:xfrm>
          <a:prstGeom prst="rect">
            <a:avLst/>
          </a:prstGeom>
          <a:noFill/>
          <a:ln/>
        </p:spPr>
        <p:txBody>
          <a:bodyPr wrap="square" rtlCol="0" anchor="t"/>
          <a:lstStyle/>
          <a:p>
            <a:pPr indent="0" marL="0">
              <a:lnSpc>
                <a:spcPct val="103000"/>
              </a:lnSpc>
              <a:buNone/>
            </a:pPr>
            <a:r>
              <a:rPr lang="en-US" sz="1350" dirty="0">
                <a:solidFill>
                  <a:srgbClr val="1B2433"/>
                </a:solidFill>
                <a:latin typeface="Calibri" pitchFamily="34" charset="0"/>
                <a:ea typeface="Calibri" pitchFamily="34" charset="-122"/>
                <a:cs typeface="Calibri" pitchFamily="34" charset="-120"/>
              </a:rPr>
              <a:t>T-piece and PSV both produced faster weaning than SIMV. Modern ICUs use spontaneous breathing trials, not SIMV gradual taper.</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40" y="502920"/>
            <a:ext cx="5943600" cy="365760"/>
          </a:xfrm>
          <a:prstGeom prst="rect">
            <a:avLst/>
          </a:prstGeom>
          <a:noFill/>
          <a:ln/>
        </p:spPr>
        <p:txBody>
          <a:bodyPr wrap="square" rtlCol="0" anchor="ctr"/>
          <a:lstStyle/>
          <a:p>
            <a:pPr indent="0" marL="0">
              <a:buNone/>
            </a:pPr>
            <a:r>
              <a:rPr lang="en-US" sz="1250" b="1" dirty="0">
                <a:solidFill>
                  <a:srgbClr val="1B63C4"/>
                </a:solidFill>
                <a:latin typeface="Calibri" pitchFamily="34" charset="0"/>
                <a:ea typeface="Calibri" pitchFamily="34" charset="-122"/>
                <a:cs typeface="Calibri" pitchFamily="34" charset="-120"/>
              </a:rPr>
              <a:t>5.4 · NIV Modes</a:t>
            </a:r>
            <a:endParaRPr lang="en-US" sz="1250" dirty="0"/>
          </a:p>
        </p:txBody>
      </p:sp>
      <p:sp>
        <p:nvSpPr>
          <p:cNvPr id="3" name="Text 1"/>
          <p:cNvSpPr/>
          <p:nvPr/>
        </p:nvSpPr>
        <p:spPr>
          <a:xfrm>
            <a:off x="548640" y="868680"/>
            <a:ext cx="8595360" cy="1051560"/>
          </a:xfrm>
          <a:prstGeom prst="rect">
            <a:avLst/>
          </a:prstGeom>
          <a:noFill/>
          <a:ln/>
        </p:spPr>
        <p:txBody>
          <a:bodyPr wrap="square" rtlCol="0" anchor="t"/>
          <a:lstStyle/>
          <a:p>
            <a:pPr indent="0" marL="0">
              <a:lnSpc>
                <a:spcPct val="95000"/>
              </a:lnSpc>
              <a:buNone/>
            </a:pPr>
            <a:r>
              <a:rPr lang="en-US" sz="2900" b="1" dirty="0">
                <a:solidFill>
                  <a:srgbClr val="173A68"/>
                </a:solidFill>
                <a:latin typeface="Cambria" pitchFamily="34" charset="0"/>
                <a:ea typeface="Cambria" pitchFamily="34" charset="-122"/>
                <a:cs typeface="Cambria" pitchFamily="34" charset="-120"/>
              </a:rPr>
              <a:t>CPAP vs BiPAP</a:t>
            </a:r>
            <a:endParaRPr lang="en-US" sz="2900" dirty="0"/>
          </a:p>
        </p:txBody>
      </p:sp>
      <p:sp>
        <p:nvSpPr>
          <p:cNvPr id="4" name="Text 2"/>
          <p:cNvSpPr/>
          <p:nvPr/>
        </p:nvSpPr>
        <p:spPr>
          <a:xfrm>
            <a:off x="10561320" y="457200"/>
            <a:ext cx="1097280" cy="1097280"/>
          </a:xfrm>
          <a:prstGeom prst="roundRect">
            <a:avLst>
              <a:gd name="adj" fmla="val 10000"/>
            </a:avLst>
          </a:prstGeom>
          <a:solidFill>
            <a:srgbClr val="173A68"/>
          </a:solid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5.4</a:t>
            </a:r>
            <a:endParaRPr lang="en-US" sz="2600" dirty="0"/>
          </a:p>
        </p:txBody>
      </p:sp>
      <p:sp>
        <p:nvSpPr>
          <p:cNvPr id="5" name="Text 3"/>
          <p:cNvSpPr/>
          <p:nvPr/>
        </p:nvSpPr>
        <p:spPr>
          <a:xfrm>
            <a:off x="548640" y="2148840"/>
            <a:ext cx="10058400" cy="4114800"/>
          </a:xfrm>
          <a:prstGeom prst="rect">
            <a:avLst/>
          </a:prstGeom>
          <a:noFill/>
          <a:ln/>
        </p:spPr>
        <p:txBody>
          <a:bodyPr wrap="square" rtlCol="0" anchor="t"/>
          <a:lstStyle/>
          <a:p>
            <a:pPr marL="177800" indent="-177800">
              <a:lnSpc>
                <a:spcPct val="100000"/>
              </a:lnSpc>
              <a:spcAft>
                <a:spcPts val="900"/>
              </a:spcAft>
              <a:buSzPct val="100000"/>
              <a:buChar char="•"/>
            </a:pPr>
            <a:r>
              <a:rPr lang="en-US" sz="1550" dirty="0">
                <a:solidFill>
                  <a:srgbClr val="1B2433"/>
                </a:solidFill>
                <a:latin typeface="Calibri" pitchFamily="34" charset="0"/>
                <a:ea typeface="Calibri" pitchFamily="34" charset="-122"/>
                <a:cs typeface="Calibri" pitchFamily="34" charset="-120"/>
              </a:rPr>
              <a:t>CPAP: ONE pressure throughout the breath.</a:t>
            </a:r>
            <a:endParaRPr lang="en-US" sz="1550" dirty="0"/>
          </a:p>
          <a:p>
            <a:pPr marL="177800" indent="-177800">
              <a:lnSpc>
                <a:spcPct val="100000"/>
              </a:lnSpc>
              <a:spcAft>
                <a:spcPts val="900"/>
              </a:spcAft>
              <a:buSzPct val="100000"/>
              <a:buChar char="•"/>
            </a:pPr>
            <a:r>
              <a:rPr lang="en-US" sz="1550" dirty="0">
                <a:solidFill>
                  <a:srgbClr val="1B2433"/>
                </a:solidFill>
                <a:latin typeface="Calibri" pitchFamily="34" charset="0"/>
                <a:ea typeface="Calibri" pitchFamily="34" charset="-122"/>
                <a:cs typeface="Calibri" pitchFamily="34" charset="-120"/>
              </a:rPr>
              <a:t>Bersten et al.</a:t>
            </a:r>
            <a:endParaRPr lang="en-US" sz="1550" dirty="0"/>
          </a:p>
          <a:p>
            <a:pPr marL="177800" indent="-177800">
              <a:lnSpc>
                <a:spcPct val="100000"/>
              </a:lnSpc>
              <a:spcAft>
                <a:spcPts val="900"/>
              </a:spcAft>
              <a:buSzPct val="100000"/>
              <a:buChar char="•"/>
            </a:pPr>
            <a:r>
              <a:rPr lang="en-US" sz="1550" dirty="0">
                <a:solidFill>
                  <a:srgbClr val="1B2433"/>
                </a:solidFill>
                <a:latin typeface="Calibri" pitchFamily="34" charset="0"/>
                <a:ea typeface="Calibri" pitchFamily="34" charset="-122"/>
                <a:cs typeface="Calibri" pitchFamily="34" charset="-120"/>
              </a:rPr>
              <a:t>BiPAP: TWO pressures (IPAP / EPAP).</a:t>
            </a:r>
            <a:endParaRPr lang="en-US" sz="1550" dirty="0"/>
          </a:p>
          <a:p>
            <a:pPr marL="177800" indent="-177800">
              <a:lnSpc>
                <a:spcPct val="100000"/>
              </a:lnSpc>
              <a:spcAft>
                <a:spcPts val="900"/>
              </a:spcAft>
              <a:buSzPct val="100000"/>
              <a:buChar char="•"/>
            </a:pPr>
            <a:r>
              <a:rPr lang="en-US" sz="1550" dirty="0">
                <a:solidFill>
                  <a:srgbClr val="1B2433"/>
                </a:solidFill>
                <a:latin typeface="Calibri" pitchFamily="34" charset="0"/>
                <a:ea typeface="Calibri" pitchFamily="34" charset="-122"/>
                <a:cs typeface="Calibri" pitchFamily="34" charset="-120"/>
              </a:rPr>
              <a:t>Brochard et al.</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640" y="502920"/>
            <a:ext cx="5943600" cy="365760"/>
          </a:xfrm>
          <a:prstGeom prst="rect">
            <a:avLst/>
          </a:prstGeom>
          <a:noFill/>
          <a:ln/>
        </p:spPr>
        <p:txBody>
          <a:bodyPr wrap="square" rtlCol="0" anchor="ctr"/>
          <a:lstStyle/>
          <a:p>
            <a:pPr indent="0" marL="0">
              <a:buNone/>
            </a:pPr>
            <a:r>
              <a:rPr lang="en-US" sz="1250" b="1" dirty="0">
                <a:solidFill>
                  <a:srgbClr val="1B63C4"/>
                </a:solidFill>
                <a:latin typeface="Calibri" pitchFamily="34" charset="0"/>
                <a:ea typeface="Calibri" pitchFamily="34" charset="-122"/>
                <a:cs typeface="Calibri" pitchFamily="34" charset="-120"/>
              </a:rPr>
              <a:t>5.5 · PRVC</a:t>
            </a:r>
            <a:endParaRPr lang="en-US" sz="1250" dirty="0"/>
          </a:p>
        </p:txBody>
      </p:sp>
      <p:sp>
        <p:nvSpPr>
          <p:cNvPr id="3" name="Text 1"/>
          <p:cNvSpPr/>
          <p:nvPr/>
        </p:nvSpPr>
        <p:spPr>
          <a:xfrm>
            <a:off x="548640" y="868680"/>
            <a:ext cx="8595360" cy="1051560"/>
          </a:xfrm>
          <a:prstGeom prst="rect">
            <a:avLst/>
          </a:prstGeom>
          <a:noFill/>
          <a:ln/>
        </p:spPr>
        <p:txBody>
          <a:bodyPr wrap="square" rtlCol="0" anchor="t"/>
          <a:lstStyle/>
          <a:p>
            <a:pPr indent="0" marL="0">
              <a:lnSpc>
                <a:spcPct val="95000"/>
              </a:lnSpc>
              <a:buNone/>
            </a:pPr>
            <a:r>
              <a:rPr lang="en-US" sz="2900" b="1" dirty="0">
                <a:solidFill>
                  <a:srgbClr val="173A68"/>
                </a:solidFill>
                <a:latin typeface="Cambria" pitchFamily="34" charset="0"/>
                <a:ea typeface="Cambria" pitchFamily="34" charset="-122"/>
                <a:cs typeface="Cambria" pitchFamily="34" charset="-120"/>
              </a:rPr>
              <a:t>PRVC and Newer Modes</a:t>
            </a:r>
            <a:endParaRPr lang="en-US" sz="2900" dirty="0"/>
          </a:p>
        </p:txBody>
      </p:sp>
      <p:sp>
        <p:nvSpPr>
          <p:cNvPr id="4" name="Text 2"/>
          <p:cNvSpPr/>
          <p:nvPr/>
        </p:nvSpPr>
        <p:spPr>
          <a:xfrm>
            <a:off x="10561320" y="457200"/>
            <a:ext cx="1097280" cy="1097280"/>
          </a:xfrm>
          <a:prstGeom prst="roundRect">
            <a:avLst>
              <a:gd name="adj" fmla="val 10000"/>
            </a:avLst>
          </a:prstGeom>
          <a:solidFill>
            <a:srgbClr val="173A68"/>
          </a:solid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5.5</a:t>
            </a:r>
            <a:endParaRPr lang="en-US" sz="2600" dirty="0"/>
          </a:p>
        </p:txBody>
      </p:sp>
      <p:sp>
        <p:nvSpPr>
          <p:cNvPr id="5" name="Text 3"/>
          <p:cNvSpPr/>
          <p:nvPr/>
        </p:nvSpPr>
        <p:spPr>
          <a:xfrm>
            <a:off x="548640" y="2148840"/>
            <a:ext cx="10058400" cy="4114800"/>
          </a:xfrm>
          <a:prstGeom prst="rect">
            <a:avLst/>
          </a:prstGeom>
          <a:noFill/>
          <a:ln/>
        </p:spPr>
        <p:txBody>
          <a:bodyPr wrap="square" rtlCol="0" anchor="t"/>
          <a:lstStyle/>
          <a:p>
            <a:pPr marL="177800" indent="-177800">
              <a:lnSpc>
                <a:spcPct val="100000"/>
              </a:lnSpc>
              <a:spcAft>
                <a:spcPts val="900"/>
              </a:spcAft>
              <a:buSzPct val="100000"/>
              <a:buChar char="•"/>
            </a:pPr>
            <a:r>
              <a:rPr lang="en-US" sz="1550" dirty="0">
                <a:solidFill>
                  <a:srgbClr val="1B2433"/>
                </a:solidFill>
                <a:latin typeface="Calibri" pitchFamily="34" charset="0"/>
                <a:ea typeface="Calibri" pitchFamily="34" charset="-122"/>
                <a:cs typeface="Calibri" pitchFamily="34" charset="-120"/>
              </a:rPr>
              <a:t>Pressure-Regulated Volume Control: a HYBRID.</a:t>
            </a:r>
            <a:endParaRPr lang="en-US" sz="1550" dirty="0"/>
          </a:p>
          <a:p>
            <a:pPr marL="177800" indent="-177800">
              <a:lnSpc>
                <a:spcPct val="100000"/>
              </a:lnSpc>
              <a:spcAft>
                <a:spcPts val="900"/>
              </a:spcAft>
              <a:buSzPct val="100000"/>
              <a:buChar char="•"/>
            </a:pPr>
            <a:r>
              <a:rPr lang="en-US" sz="1550" dirty="0">
                <a:solidFill>
                  <a:srgbClr val="1B2433"/>
                </a:solidFill>
                <a:latin typeface="Calibri" pitchFamily="34" charset="0"/>
                <a:ea typeface="Calibri" pitchFamily="34" charset="-122"/>
                <a:cs typeface="Calibri" pitchFamily="34" charset="-120"/>
              </a:rPr>
              <a:t>Vendor names differ: Drager AutoFlow, Servo PRVC, Hamilton ASV-like — all variations on the same idea.</a:t>
            </a:r>
            <a:endParaRPr lang="en-US" sz="1550" dirty="0"/>
          </a:p>
          <a:p>
            <a:pPr marL="177800" indent="-177800">
              <a:lnSpc>
                <a:spcPct val="100000"/>
              </a:lnSpc>
              <a:spcAft>
                <a:spcPts val="900"/>
              </a:spcAft>
              <a:buSzPct val="100000"/>
              <a:buChar char="•"/>
            </a:pPr>
            <a:r>
              <a:rPr lang="en-US" sz="1550" dirty="0">
                <a:solidFill>
                  <a:srgbClr val="1B2433"/>
                </a:solidFill>
                <a:latin typeface="Calibri" pitchFamily="34" charset="0"/>
                <a:ea typeface="Calibri" pitchFamily="34" charset="-122"/>
                <a:cs typeface="Calibri" pitchFamily="34" charset="-120"/>
              </a:rPr>
              <a:t>The LTV 1200 does NOT natively offer PRVC.</a:t>
            </a:r>
            <a:endParaRPr lang="en-US" sz="1550" dirty="0"/>
          </a:p>
          <a:p>
            <a:pPr marL="177800" indent="-177800">
              <a:lnSpc>
                <a:spcPct val="100000"/>
              </a:lnSpc>
              <a:spcAft>
                <a:spcPts val="900"/>
              </a:spcAft>
              <a:buSzPct val="100000"/>
              <a:buChar char="•"/>
            </a:pPr>
            <a:r>
              <a:rPr lang="en-US" sz="1550" dirty="0">
                <a:solidFill>
                  <a:srgbClr val="1B2433"/>
                </a:solidFill>
                <a:latin typeface="Calibri" pitchFamily="34" charset="0"/>
                <a:ea typeface="Calibri" pitchFamily="34" charset="-122"/>
                <a:cs typeface="Calibri" pitchFamily="34" charset="-120"/>
              </a:rPr>
              <a:t>APRV (Airway Pressure Release Ventilation) — used in refractory ARDS.</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48640" y="502920"/>
            <a:ext cx="5943600" cy="365760"/>
          </a:xfrm>
          <a:prstGeom prst="rect">
            <a:avLst/>
          </a:prstGeom>
          <a:noFill/>
          <a:ln/>
        </p:spPr>
        <p:txBody>
          <a:bodyPr wrap="square" rtlCol="0" anchor="ctr"/>
          <a:lstStyle/>
          <a:p>
            <a:pPr indent="0" marL="0">
              <a:buNone/>
            </a:pPr>
            <a:r>
              <a:rPr lang="en-US" sz="1250" b="1" dirty="0">
                <a:solidFill>
                  <a:srgbClr val="1B63C4"/>
                </a:solidFill>
                <a:latin typeface="Calibri" pitchFamily="34" charset="0"/>
                <a:ea typeface="Calibri" pitchFamily="34" charset="-122"/>
                <a:cs typeface="Calibri" pitchFamily="34" charset="-120"/>
              </a:rPr>
              <a:t>5.6 · Synchrony</a:t>
            </a:r>
            <a:endParaRPr lang="en-US" sz="1250" dirty="0"/>
          </a:p>
        </p:txBody>
      </p:sp>
      <p:sp>
        <p:nvSpPr>
          <p:cNvPr id="3" name="Text 1"/>
          <p:cNvSpPr/>
          <p:nvPr/>
        </p:nvSpPr>
        <p:spPr>
          <a:xfrm>
            <a:off x="548640" y="868680"/>
            <a:ext cx="8595360" cy="1051560"/>
          </a:xfrm>
          <a:prstGeom prst="rect">
            <a:avLst/>
          </a:prstGeom>
          <a:noFill/>
          <a:ln/>
        </p:spPr>
        <p:txBody>
          <a:bodyPr wrap="square" rtlCol="0" anchor="t"/>
          <a:lstStyle/>
          <a:p>
            <a:pPr indent="0" marL="0">
              <a:lnSpc>
                <a:spcPct val="95000"/>
              </a:lnSpc>
              <a:buNone/>
            </a:pPr>
            <a:r>
              <a:rPr lang="en-US" sz="2900" b="1" dirty="0">
                <a:solidFill>
                  <a:srgbClr val="173A68"/>
                </a:solidFill>
                <a:latin typeface="Cambria" pitchFamily="34" charset="0"/>
                <a:ea typeface="Cambria" pitchFamily="34" charset="-122"/>
                <a:cs typeface="Cambria" pitchFamily="34" charset="-120"/>
              </a:rPr>
              <a:t>Trigger Sensitivity &amp; Inspiratory Rise Time</a:t>
            </a:r>
            <a:endParaRPr lang="en-US" sz="2900" dirty="0"/>
          </a:p>
        </p:txBody>
      </p:sp>
      <p:sp>
        <p:nvSpPr>
          <p:cNvPr id="4" name="Text 2"/>
          <p:cNvSpPr/>
          <p:nvPr/>
        </p:nvSpPr>
        <p:spPr>
          <a:xfrm>
            <a:off x="10561320" y="457200"/>
            <a:ext cx="1097280" cy="1097280"/>
          </a:xfrm>
          <a:prstGeom prst="roundRect">
            <a:avLst>
              <a:gd name="adj" fmla="val 10000"/>
            </a:avLst>
          </a:prstGeom>
          <a:solidFill>
            <a:srgbClr val="173A68"/>
          </a:solid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5.6</a:t>
            </a:r>
            <a:endParaRPr lang="en-US" sz="2600" dirty="0"/>
          </a:p>
        </p:txBody>
      </p:sp>
      <p:sp>
        <p:nvSpPr>
          <p:cNvPr id="5" name="Text 3"/>
          <p:cNvSpPr/>
          <p:nvPr/>
        </p:nvSpPr>
        <p:spPr>
          <a:xfrm>
            <a:off x="548640" y="2148840"/>
            <a:ext cx="10058400" cy="4114800"/>
          </a:xfrm>
          <a:prstGeom prst="rect">
            <a:avLst/>
          </a:prstGeom>
          <a:noFill/>
          <a:ln/>
        </p:spPr>
        <p:txBody>
          <a:bodyPr wrap="square" rtlCol="0" anchor="t"/>
          <a:lstStyle/>
          <a:p>
            <a:pPr marL="177800" indent="-177800">
              <a:lnSpc>
                <a:spcPct val="100000"/>
              </a:lnSpc>
              <a:spcAft>
                <a:spcPts val="900"/>
              </a:spcAft>
              <a:buSzPct val="100000"/>
              <a:buChar char="•"/>
            </a:pPr>
            <a:r>
              <a:rPr lang="en-US" sz="1550" dirty="0">
                <a:solidFill>
                  <a:srgbClr val="1B2433"/>
                </a:solidFill>
                <a:latin typeface="Calibri" pitchFamily="34" charset="0"/>
                <a:ea typeface="Calibri" pitchFamily="34" charset="-122"/>
                <a:cs typeface="Calibri" pitchFamily="34" charset="-120"/>
              </a:rPr>
              <a:t>Patient-vent dyssynchrony is the patient and the machine fighting over who leads the breath — pushing and pulling at different moments, like two people…</a:t>
            </a:r>
            <a:endParaRPr lang="en-US" sz="1550" dirty="0"/>
          </a:p>
          <a:p>
            <a:pPr marL="177800" indent="-177800">
              <a:lnSpc>
                <a:spcPct val="100000"/>
              </a:lnSpc>
              <a:spcAft>
                <a:spcPts val="900"/>
              </a:spcAft>
              <a:buSzPct val="100000"/>
              <a:buChar char="•"/>
            </a:pPr>
            <a:r>
              <a:rPr lang="en-US" sz="1550" dirty="0">
                <a:solidFill>
                  <a:srgbClr val="1B2433"/>
                </a:solidFill>
                <a:latin typeface="Calibri" pitchFamily="34" charset="0"/>
                <a:ea typeface="Calibri" pitchFamily="34" charset="-122"/>
                <a:cs typeface="Calibri" pitchFamily="34" charset="-120"/>
              </a:rPr>
              <a:t>Trigger sensitivity controls how easily the patient initiates a breath.</a:t>
            </a:r>
            <a:endParaRPr lang="en-US" sz="1550" dirty="0"/>
          </a:p>
          <a:p>
            <a:pPr marL="177800" indent="-177800">
              <a:lnSpc>
                <a:spcPct val="100000"/>
              </a:lnSpc>
              <a:spcAft>
                <a:spcPts val="900"/>
              </a:spcAft>
              <a:buSzPct val="100000"/>
              <a:buChar char="•"/>
            </a:pPr>
            <a:r>
              <a:rPr lang="en-US" sz="1550" dirty="0">
                <a:solidFill>
                  <a:srgbClr val="1B2433"/>
                </a:solidFill>
                <a:latin typeface="Calibri" pitchFamily="34" charset="0"/>
                <a:ea typeface="Calibri" pitchFamily="34" charset="-122"/>
                <a:cs typeface="Calibri" pitchFamily="34" charset="-120"/>
              </a:rPr>
              <a:t>Inspiratory rise time: how fast the pressure ramps up at the start of inspiration (pressure-targeted modes).</a:t>
            </a:r>
            <a:endParaRPr lang="en-US" sz="1550" dirty="0"/>
          </a:p>
          <a:p>
            <a:pPr marL="177800" indent="-177800">
              <a:lnSpc>
                <a:spcPct val="100000"/>
              </a:lnSpc>
              <a:spcAft>
                <a:spcPts val="900"/>
              </a:spcAft>
              <a:buSzPct val="100000"/>
              <a:buChar char="•"/>
            </a:pPr>
            <a:r>
              <a:rPr lang="en-US" sz="1550" dirty="0">
                <a:solidFill>
                  <a:srgbClr val="1B2433"/>
                </a:solidFill>
                <a:latin typeface="Calibri" pitchFamily="34" charset="0"/>
                <a:ea typeface="Calibri" pitchFamily="34" charset="-122"/>
                <a:cs typeface="Calibri" pitchFamily="34" charset="-120"/>
              </a:rPr>
              <a:t>EMS bedside fix for most dyssynchrony: deepen sedation, ensure analgesia, check trigger settings.</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73A68"/>
        </a:solidFill>
      </p:bgPr>
    </p:bg>
    <p:spTree>
      <p:nvGrpSpPr>
        <p:cNvPr id="1" name=""/>
        <p:cNvGrpSpPr/>
        <p:nvPr/>
      </p:nvGrpSpPr>
      <p:grpSpPr>
        <a:xfrm>
          <a:off x="0" y="0"/>
          <a:ext cx="0" cy="0"/>
          <a:chOff x="0" y="0"/>
          <a:chExt cx="0" cy="0"/>
        </a:xfrm>
      </p:grpSpPr>
      <p:sp>
        <p:nvSpPr>
          <p:cNvPr id="2" name="Text 0"/>
          <p:cNvSpPr/>
          <p:nvPr/>
        </p:nvSpPr>
        <p:spPr>
          <a:xfrm>
            <a:off x="548640" y="502920"/>
            <a:ext cx="10058400" cy="73152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Now put it to work</a:t>
            </a:r>
            <a:endParaRPr lang="en-US" sz="3200" dirty="0"/>
          </a:p>
        </p:txBody>
      </p:sp>
      <p:sp>
        <p:nvSpPr>
          <p:cNvPr id="3" name="Text 1"/>
          <p:cNvSpPr/>
          <p:nvPr/>
        </p:nvSpPr>
        <p:spPr>
          <a:xfrm>
            <a:off x="548640" y="1234440"/>
            <a:ext cx="10058400" cy="365760"/>
          </a:xfrm>
          <a:prstGeom prst="rect">
            <a:avLst/>
          </a:prstGeom>
          <a:noFill/>
          <a:ln/>
        </p:spPr>
        <p:txBody>
          <a:bodyPr wrap="square" rtlCol="0" anchor="ctr"/>
          <a:lstStyle/>
          <a:p>
            <a:pPr indent="0" marL="0">
              <a:buNone/>
            </a:pPr>
            <a:r>
              <a:rPr lang="en-US" sz="1400" dirty="0">
                <a:solidFill>
                  <a:srgbClr val="CFE0F5"/>
                </a:solidFill>
                <a:latin typeface="Calibri" pitchFamily="34" charset="0"/>
                <a:ea typeface="Calibri" pitchFamily="34" charset="-122"/>
                <a:cs typeface="Calibri" pitchFamily="34" charset="-120"/>
              </a:rPr>
              <a:t>Hand off to learner devices — cues match your facilitator guide.</a:t>
            </a:r>
            <a:endParaRPr lang="en-US" sz="1400" dirty="0"/>
          </a:p>
        </p:txBody>
      </p:sp>
      <p:sp>
        <p:nvSpPr>
          <p:cNvPr id="4" name="Text 2"/>
          <p:cNvSpPr/>
          <p:nvPr/>
        </p:nvSpPr>
        <p:spPr>
          <a:xfrm>
            <a:off x="548640" y="1965960"/>
            <a:ext cx="1051560" cy="777240"/>
          </a:xfrm>
          <a:prstGeom prst="roundRect">
            <a:avLst>
              <a:gd name="adj" fmla="val 11765"/>
            </a:avLst>
          </a:prstGeom>
          <a:solidFill>
            <a:srgbClr val="1B63C4"/>
          </a:solid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QUIZ</a:t>
            </a:r>
            <a:endParaRPr lang="en-US" sz="1400" dirty="0"/>
          </a:p>
        </p:txBody>
      </p:sp>
      <p:sp>
        <p:nvSpPr>
          <p:cNvPr id="5" name="Text 3"/>
          <p:cNvSpPr/>
          <p:nvPr/>
        </p:nvSpPr>
        <p:spPr>
          <a:xfrm>
            <a:off x="1874520" y="1984248"/>
            <a:ext cx="9601200" cy="41148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Knowledge Check</a:t>
            </a:r>
            <a:endParaRPr lang="en-US" sz="1700" dirty="0"/>
          </a:p>
        </p:txBody>
      </p:sp>
      <p:sp>
        <p:nvSpPr>
          <p:cNvPr id="6" name="Text 4"/>
          <p:cNvSpPr/>
          <p:nvPr/>
        </p:nvSpPr>
        <p:spPr>
          <a:xfrm>
            <a:off x="1874520" y="2395728"/>
            <a:ext cx="9966960" cy="365760"/>
          </a:xfrm>
          <a:prstGeom prst="rect">
            <a:avLst/>
          </a:prstGeom>
          <a:noFill/>
          <a:ln/>
        </p:spPr>
        <p:txBody>
          <a:bodyPr wrap="square" rtlCol="0" anchor="ctr"/>
          <a:lstStyle/>
          <a:p>
            <a:pPr indent="0" marL="0">
              <a:buNone/>
            </a:pPr>
            <a:r>
              <a:rPr lang="en-US" sz="1250" dirty="0">
                <a:solidFill>
                  <a:srgbClr val="A9C2E0"/>
                </a:solidFill>
                <a:latin typeface="Calibri" pitchFamily="34" charset="0"/>
                <a:ea typeface="Calibri" pitchFamily="34" charset="-122"/>
                <a:cs typeface="Calibri" pitchFamily="34" charset="-120"/>
              </a:rPr>
              <a:t>10 questions · pass 8/10 to unlock the next module</a:t>
            </a:r>
            <a:endParaRPr lang="en-US" sz="1250" dirty="0"/>
          </a:p>
        </p:txBody>
      </p:sp>
      <p:sp>
        <p:nvSpPr>
          <p:cNvPr id="7" name="Text 5"/>
          <p:cNvSpPr/>
          <p:nvPr/>
        </p:nvSpPr>
        <p:spPr>
          <a:xfrm>
            <a:off x="548640" y="2990088"/>
            <a:ext cx="1051560" cy="777240"/>
          </a:xfrm>
          <a:prstGeom prst="roundRect">
            <a:avLst>
              <a:gd name="adj" fmla="val 11765"/>
            </a:avLst>
          </a:prstGeom>
          <a:solidFill>
            <a:srgbClr val="7C3AED"/>
          </a:solid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MATCH</a:t>
            </a:r>
            <a:endParaRPr lang="en-US" sz="1400" dirty="0"/>
          </a:p>
        </p:txBody>
      </p:sp>
      <p:sp>
        <p:nvSpPr>
          <p:cNvPr id="8" name="Text 6"/>
          <p:cNvSpPr/>
          <p:nvPr/>
        </p:nvSpPr>
        <p:spPr>
          <a:xfrm>
            <a:off x="1874520" y="3008376"/>
            <a:ext cx="9601200" cy="41148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Pick the Mode</a:t>
            </a:r>
            <a:endParaRPr lang="en-US" sz="1700" dirty="0"/>
          </a:p>
        </p:txBody>
      </p:sp>
      <p:sp>
        <p:nvSpPr>
          <p:cNvPr id="9" name="Text 7"/>
          <p:cNvSpPr/>
          <p:nvPr/>
        </p:nvSpPr>
        <p:spPr>
          <a:xfrm>
            <a:off x="1874520" y="3419856"/>
            <a:ext cx="9966960" cy="365760"/>
          </a:xfrm>
          <a:prstGeom prst="rect">
            <a:avLst/>
          </a:prstGeom>
          <a:noFill/>
          <a:ln/>
        </p:spPr>
        <p:txBody>
          <a:bodyPr wrap="square" rtlCol="0" anchor="ctr"/>
          <a:lstStyle/>
          <a:p>
            <a:pPr indent="0" marL="0">
              <a:buNone/>
            </a:pPr>
            <a:r>
              <a:rPr lang="en-US" sz="1250" dirty="0">
                <a:solidFill>
                  <a:srgbClr val="A9C2E0"/>
                </a:solidFill>
                <a:latin typeface="Calibri" pitchFamily="34" charset="0"/>
                <a:ea typeface="Calibri" pitchFamily="34" charset="-122"/>
                <a:cs typeface="Calibri" pitchFamily="34" charset="-120"/>
              </a:rPr>
              <a:t>6 items · CPAP · BiPAP · AC/VC · must be perfect</a:t>
            </a:r>
            <a:endParaRPr lang="en-US" sz="1250" dirty="0"/>
          </a:p>
        </p:txBody>
      </p:sp>
      <p:sp>
        <p:nvSpPr>
          <p:cNvPr id="10" name="Text 8"/>
          <p:cNvSpPr/>
          <p:nvPr/>
        </p:nvSpPr>
        <p:spPr>
          <a:xfrm>
            <a:off x="548640" y="4014216"/>
            <a:ext cx="1051560" cy="777240"/>
          </a:xfrm>
          <a:prstGeom prst="roundRect">
            <a:avLst>
              <a:gd name="adj" fmla="val 11765"/>
            </a:avLst>
          </a:prstGeom>
          <a:solidFill>
            <a:srgbClr val="B4690E"/>
          </a:solid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CASE</a:t>
            </a:r>
            <a:endParaRPr lang="en-US" sz="1400" dirty="0"/>
          </a:p>
        </p:txBody>
      </p:sp>
      <p:sp>
        <p:nvSpPr>
          <p:cNvPr id="11" name="Text 9"/>
          <p:cNvSpPr/>
          <p:nvPr/>
        </p:nvSpPr>
        <p:spPr>
          <a:xfrm>
            <a:off x="1874520" y="4032504"/>
            <a:ext cx="9601200" cy="41148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Inherited Patient on PRVC</a:t>
            </a:r>
            <a:endParaRPr lang="en-US" sz="1700" dirty="0"/>
          </a:p>
        </p:txBody>
      </p:sp>
      <p:sp>
        <p:nvSpPr>
          <p:cNvPr id="12" name="Text 10"/>
          <p:cNvSpPr/>
          <p:nvPr/>
        </p:nvSpPr>
        <p:spPr>
          <a:xfrm>
            <a:off x="1874520" y="4443984"/>
            <a:ext cx="9966960" cy="365760"/>
          </a:xfrm>
          <a:prstGeom prst="rect">
            <a:avLst/>
          </a:prstGeom>
          <a:noFill/>
          <a:ln/>
        </p:spPr>
        <p:txBody>
          <a:bodyPr wrap="square" rtlCol="0" anchor="ctr"/>
          <a:lstStyle/>
          <a:p>
            <a:pPr indent="0" marL="0">
              <a:buNone/>
            </a:pPr>
            <a:r>
              <a:rPr lang="en-US" sz="1250" dirty="0">
                <a:solidFill>
                  <a:srgbClr val="A9C2E0"/>
                </a:solidFill>
                <a:latin typeface="Calibri" pitchFamily="34" charset="0"/>
                <a:ea typeface="Calibri" pitchFamily="34" charset="-122"/>
                <a:cs typeface="Calibri" pitchFamily="34" charset="-120"/>
              </a:rPr>
              <a:t>4-decision branching scenario · 54-year-old female, 5'5" (IBW ~57 kg). ARDS day 1 from urosepsis. On…</a:t>
            </a:r>
            <a:endParaRPr lang="en-US" sz="1250" dirty="0"/>
          </a:p>
        </p:txBody>
      </p:sp>
      <p:sp>
        <p:nvSpPr>
          <p:cNvPr id="13" name="Text 11"/>
          <p:cNvSpPr/>
          <p:nvPr/>
        </p:nvSpPr>
        <p:spPr>
          <a:xfrm>
            <a:off x="548640" y="5038344"/>
            <a:ext cx="1051560" cy="777240"/>
          </a:xfrm>
          <a:prstGeom prst="roundRect">
            <a:avLst>
              <a:gd name="adj" fmla="val 11765"/>
            </a:avLst>
          </a:prstGeom>
          <a:solidFill>
            <a:srgbClr val="1C7D4D"/>
          </a:solid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SIM</a:t>
            </a:r>
            <a:endParaRPr lang="en-US" sz="1400" dirty="0"/>
          </a:p>
        </p:txBody>
      </p:sp>
      <p:sp>
        <p:nvSpPr>
          <p:cNvPr id="14" name="Text 12"/>
          <p:cNvSpPr/>
          <p:nvPr/>
        </p:nvSpPr>
        <p:spPr>
          <a:xfrm>
            <a:off x="1874520" y="5056632"/>
            <a:ext cx="9601200" cy="41148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LTV 1200 Simulator</a:t>
            </a:r>
            <a:endParaRPr lang="en-US" sz="1700" dirty="0"/>
          </a:p>
        </p:txBody>
      </p:sp>
      <p:sp>
        <p:nvSpPr>
          <p:cNvPr id="15" name="Text 13"/>
          <p:cNvSpPr/>
          <p:nvPr/>
        </p:nvSpPr>
        <p:spPr>
          <a:xfrm>
            <a:off x="1874520" y="5468112"/>
            <a:ext cx="9966960" cy="365760"/>
          </a:xfrm>
          <a:prstGeom prst="rect">
            <a:avLst/>
          </a:prstGeom>
          <a:noFill/>
          <a:ln/>
        </p:spPr>
        <p:txBody>
          <a:bodyPr wrap="square" rtlCol="0" anchor="ctr"/>
          <a:lstStyle/>
          <a:p>
            <a:pPr indent="0" marL="0">
              <a:buNone/>
            </a:pPr>
            <a:r>
              <a:rPr lang="en-US" sz="1250" dirty="0">
                <a:solidFill>
                  <a:srgbClr val="A9C2E0"/>
                </a:solidFill>
                <a:latin typeface="Calibri" pitchFamily="34" charset="0"/>
                <a:ea typeface="Calibri" pitchFamily="34" charset="-122"/>
                <a:cs typeface="Calibri" pitchFamily="34" charset="-120"/>
              </a:rPr>
              <a:t>vent-ltv1200.html?scenario=niv-setup  —  Pick and set the right mode for an awake CHF patient — non-invasive CPAP before the…</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2A4C"/>
        </a:solidFill>
      </p:bgPr>
    </p:bg>
    <p:spTree>
      <p:nvGrpSpPr>
        <p:cNvPr id="1" name=""/>
        <p:cNvGrpSpPr/>
        <p:nvPr/>
      </p:nvGrpSpPr>
      <p:grpSpPr>
        <a:xfrm>
          <a:off x="0" y="0"/>
          <a:ext cx="0" cy="0"/>
          <a:chOff x="0" y="0"/>
          <a:chExt cx="0" cy="0"/>
        </a:xfrm>
      </p:grpSpPr>
      <p:sp>
        <p:nvSpPr>
          <p:cNvPr id="2" name="Text 0"/>
          <p:cNvSpPr/>
          <p:nvPr/>
        </p:nvSpPr>
        <p:spPr>
          <a:xfrm>
            <a:off x="548640" y="548640"/>
            <a:ext cx="10058400" cy="73152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Carry this out the door</a:t>
            </a:r>
            <a:endParaRPr lang="en-US" sz="3000" dirty="0"/>
          </a:p>
        </p:txBody>
      </p:sp>
      <p:sp>
        <p:nvSpPr>
          <p:cNvPr id="3" name="Text 1"/>
          <p:cNvSpPr/>
          <p:nvPr/>
        </p:nvSpPr>
        <p:spPr>
          <a:xfrm>
            <a:off x="548640" y="1645920"/>
            <a:ext cx="640080" cy="640080"/>
          </a:xfrm>
          <a:prstGeom prst="roundRect">
            <a:avLst>
              <a:gd name="adj" fmla="val 50000"/>
            </a:avLst>
          </a:prstGeom>
          <a:solidFill>
            <a:srgbClr val="CFE0F5"/>
          </a:solidFill>
          <a:ln/>
        </p:spPr>
        <p:txBody>
          <a:bodyPr wrap="square" rtlCol="0" anchor="ctr"/>
          <a:lstStyle/>
          <a:p>
            <a:pPr algn="ctr" indent="0" marL="0">
              <a:buNone/>
            </a:pPr>
            <a:r>
              <a:rPr lang="en-US" sz="2200" b="1" dirty="0">
                <a:solidFill>
                  <a:srgbClr val="0F2A4C"/>
                </a:solidFill>
                <a:latin typeface="Calibri" pitchFamily="34" charset="0"/>
                <a:ea typeface="Calibri" pitchFamily="34" charset="-122"/>
                <a:cs typeface="Calibri" pitchFamily="34" charset="-120"/>
              </a:rPr>
              <a:t>✓</a:t>
            </a:r>
            <a:endParaRPr lang="en-US" sz="2200" dirty="0"/>
          </a:p>
        </p:txBody>
      </p:sp>
      <p:sp>
        <p:nvSpPr>
          <p:cNvPr id="4" name="Text 2"/>
          <p:cNvSpPr/>
          <p:nvPr/>
        </p:nvSpPr>
        <p:spPr>
          <a:xfrm>
            <a:off x="1463040" y="1600200"/>
            <a:ext cx="10241280" cy="914400"/>
          </a:xfrm>
          <a:prstGeom prst="rect">
            <a:avLst/>
          </a:prstGeom>
          <a:noFill/>
          <a:ln/>
        </p:spPr>
        <p:txBody>
          <a:bodyPr wrap="square" rtlCol="0" anchor="ctr"/>
          <a:lstStyle/>
          <a:p>
            <a:pPr indent="0" marL="0">
              <a:lnSpc>
                <a:spcPct val="100000"/>
              </a:lnSpc>
              <a:buNone/>
            </a:pPr>
            <a:r>
              <a:rPr lang="en-US" sz="1700" b="1" dirty="0">
                <a:solidFill>
                  <a:srgbClr val="FFFFFF"/>
                </a:solidFill>
                <a:latin typeface="Calibri" pitchFamily="34" charset="0"/>
                <a:ea typeface="Calibri" pitchFamily="34" charset="-122"/>
                <a:cs typeface="Calibri" pitchFamily="34" charset="-120"/>
              </a:rPr>
              <a:t>Pure AC = full breath every time  </a:t>
            </a:r>
            <a:pPr indent="0" marL="0">
              <a:lnSpc>
                <a:spcPct val="100000"/>
              </a:lnSpc>
              <a:buNone/>
            </a:pPr>
            <a:r>
              <a:rPr lang="en-US" sz="1400" dirty="0">
                <a:solidFill>
                  <a:srgbClr val="B9CCE4"/>
                </a:solidFill>
                <a:latin typeface="Calibri" pitchFamily="34" charset="0"/>
                <a:ea typeface="Calibri" pitchFamily="34" charset="-122"/>
                <a:cs typeface="Calibri" pitchFamily="34" charset="-120"/>
              </a:rPr>
              <a:t>There are no small supportive breaths in AC. Every triggered breath gets the full set Vt.</a:t>
            </a:r>
            <a:endParaRPr lang="en-US" sz="1700" dirty="0"/>
          </a:p>
        </p:txBody>
      </p:sp>
      <p:sp>
        <p:nvSpPr>
          <p:cNvPr id="5" name="Text 3"/>
          <p:cNvSpPr/>
          <p:nvPr/>
        </p:nvSpPr>
        <p:spPr>
          <a:xfrm>
            <a:off x="548640" y="2788920"/>
            <a:ext cx="640080" cy="640080"/>
          </a:xfrm>
          <a:prstGeom prst="roundRect">
            <a:avLst>
              <a:gd name="adj" fmla="val 50000"/>
            </a:avLst>
          </a:prstGeom>
          <a:solidFill>
            <a:srgbClr val="CFE0F5"/>
          </a:solidFill>
          <a:ln/>
        </p:spPr>
        <p:txBody>
          <a:bodyPr wrap="square" rtlCol="0" anchor="ctr"/>
          <a:lstStyle/>
          <a:p>
            <a:pPr algn="ctr" indent="0" marL="0">
              <a:buNone/>
            </a:pPr>
            <a:r>
              <a:rPr lang="en-US" sz="2200" b="1" dirty="0">
                <a:solidFill>
                  <a:srgbClr val="0F2A4C"/>
                </a:solidFill>
                <a:latin typeface="Calibri" pitchFamily="34" charset="0"/>
                <a:ea typeface="Calibri" pitchFamily="34" charset="-122"/>
                <a:cs typeface="Calibri" pitchFamily="34" charset="-120"/>
              </a:rPr>
              <a:t>✓</a:t>
            </a:r>
            <a:endParaRPr lang="en-US" sz="2200" dirty="0"/>
          </a:p>
        </p:txBody>
      </p:sp>
      <p:sp>
        <p:nvSpPr>
          <p:cNvPr id="6" name="Text 4"/>
          <p:cNvSpPr/>
          <p:nvPr/>
        </p:nvSpPr>
        <p:spPr>
          <a:xfrm>
            <a:off x="1463040" y="2743200"/>
            <a:ext cx="10241280" cy="914400"/>
          </a:xfrm>
          <a:prstGeom prst="rect">
            <a:avLst/>
          </a:prstGeom>
          <a:noFill/>
          <a:ln/>
        </p:spPr>
        <p:txBody>
          <a:bodyPr wrap="square" rtlCol="0" anchor="ctr"/>
          <a:lstStyle/>
          <a:p>
            <a:pPr indent="0" marL="0">
              <a:lnSpc>
                <a:spcPct val="100000"/>
              </a:lnSpc>
              <a:buNone/>
            </a:pPr>
            <a:r>
              <a:rPr lang="en-US" sz="1700" b="1" dirty="0">
                <a:solidFill>
                  <a:srgbClr val="FFFFFF"/>
                </a:solidFill>
                <a:latin typeface="Calibri" pitchFamily="34" charset="0"/>
                <a:ea typeface="Calibri" pitchFamily="34" charset="-122"/>
                <a:cs typeface="Calibri" pitchFamily="34" charset="-120"/>
              </a:rPr>
              <a:t>Targeting  </a:t>
            </a:r>
            <a:pPr indent="0" marL="0">
              <a:lnSpc>
                <a:spcPct val="100000"/>
              </a:lnSpc>
              <a:buNone/>
            </a:pPr>
            <a:r>
              <a:rPr lang="en-US" sz="1400" dirty="0">
                <a:solidFill>
                  <a:srgbClr val="B9CCE4"/>
                </a:solidFill>
                <a:latin typeface="Calibri" pitchFamily="34" charset="0"/>
                <a:ea typeface="Calibri" pitchFamily="34" charset="-122"/>
                <a:cs typeface="Calibri" pitchFamily="34" charset="-120"/>
              </a:rPr>
              <a:t>Volume vs Pressure Targeting</a:t>
            </a:r>
            <a:endParaRPr lang="en-US" sz="1700" dirty="0"/>
          </a:p>
        </p:txBody>
      </p:sp>
      <p:sp>
        <p:nvSpPr>
          <p:cNvPr id="7" name="Text 5"/>
          <p:cNvSpPr/>
          <p:nvPr/>
        </p:nvSpPr>
        <p:spPr>
          <a:xfrm>
            <a:off x="548640" y="3931920"/>
            <a:ext cx="640080" cy="640080"/>
          </a:xfrm>
          <a:prstGeom prst="roundRect">
            <a:avLst>
              <a:gd name="adj" fmla="val 50000"/>
            </a:avLst>
          </a:prstGeom>
          <a:solidFill>
            <a:srgbClr val="CFE0F5"/>
          </a:solidFill>
          <a:ln/>
        </p:spPr>
        <p:txBody>
          <a:bodyPr wrap="square" rtlCol="0" anchor="ctr"/>
          <a:lstStyle/>
          <a:p>
            <a:pPr algn="ctr" indent="0" marL="0">
              <a:buNone/>
            </a:pPr>
            <a:r>
              <a:rPr lang="en-US" sz="2200" b="1" dirty="0">
                <a:solidFill>
                  <a:srgbClr val="0F2A4C"/>
                </a:solidFill>
                <a:latin typeface="Calibri" pitchFamily="34" charset="0"/>
                <a:ea typeface="Calibri" pitchFamily="34" charset="-122"/>
                <a:cs typeface="Calibri" pitchFamily="34" charset="-120"/>
              </a:rPr>
              <a:t>✓</a:t>
            </a:r>
            <a:endParaRPr lang="en-US" sz="2200" dirty="0"/>
          </a:p>
        </p:txBody>
      </p:sp>
      <p:sp>
        <p:nvSpPr>
          <p:cNvPr id="8" name="Text 6"/>
          <p:cNvSpPr/>
          <p:nvPr/>
        </p:nvSpPr>
        <p:spPr>
          <a:xfrm>
            <a:off x="1463040" y="3886200"/>
            <a:ext cx="10241280" cy="914400"/>
          </a:xfrm>
          <a:prstGeom prst="rect">
            <a:avLst/>
          </a:prstGeom>
          <a:noFill/>
          <a:ln/>
        </p:spPr>
        <p:txBody>
          <a:bodyPr wrap="square" rtlCol="0" anchor="ctr"/>
          <a:lstStyle/>
          <a:p>
            <a:pPr indent="0" marL="0">
              <a:lnSpc>
                <a:spcPct val="100000"/>
              </a:lnSpc>
              <a:buNone/>
            </a:pPr>
            <a:r>
              <a:rPr lang="en-US" sz="1700" b="1" dirty="0">
                <a:solidFill>
                  <a:srgbClr val="FFFFFF"/>
                </a:solidFill>
                <a:latin typeface="Calibri" pitchFamily="34" charset="0"/>
                <a:ea typeface="Calibri" pitchFamily="34" charset="-122"/>
                <a:cs typeface="Calibri" pitchFamily="34" charset="-120"/>
              </a:rPr>
              <a:t>SIMV &amp; Pressure Support  </a:t>
            </a:r>
            <a:pPr indent="0" marL="0">
              <a:lnSpc>
                <a:spcPct val="100000"/>
              </a:lnSpc>
              <a:buNone/>
            </a:pPr>
            <a:r>
              <a:rPr lang="en-US" sz="1400" dirty="0">
                <a:solidFill>
                  <a:srgbClr val="B9CCE4"/>
                </a:solidFill>
                <a:latin typeface="Calibri" pitchFamily="34" charset="0"/>
                <a:ea typeface="Calibri" pitchFamily="34" charset="-122"/>
                <a:cs typeface="Calibri" pitchFamily="34" charset="-120"/>
              </a:rPr>
              <a:t>SIMV and Why It Fell Out of Favor</a:t>
            </a:r>
            <a:endParaRPr lang="en-US" sz="1700" dirty="0"/>
          </a:p>
        </p:txBody>
      </p:sp>
      <p:sp>
        <p:nvSpPr>
          <p:cNvPr id="9" name="Text 7"/>
          <p:cNvSpPr/>
          <p:nvPr/>
        </p:nvSpPr>
        <p:spPr>
          <a:xfrm>
            <a:off x="548640" y="5074920"/>
            <a:ext cx="640080" cy="640080"/>
          </a:xfrm>
          <a:prstGeom prst="roundRect">
            <a:avLst>
              <a:gd name="adj" fmla="val 50000"/>
            </a:avLst>
          </a:prstGeom>
          <a:solidFill>
            <a:srgbClr val="CFE0F5"/>
          </a:solidFill>
          <a:ln/>
        </p:spPr>
        <p:txBody>
          <a:bodyPr wrap="square" rtlCol="0" anchor="ctr"/>
          <a:lstStyle/>
          <a:p>
            <a:pPr algn="ctr" indent="0" marL="0">
              <a:buNone/>
            </a:pPr>
            <a:r>
              <a:rPr lang="en-US" sz="2200" b="1" dirty="0">
                <a:solidFill>
                  <a:srgbClr val="0F2A4C"/>
                </a:solidFill>
                <a:latin typeface="Calibri" pitchFamily="34" charset="0"/>
                <a:ea typeface="Calibri" pitchFamily="34" charset="-122"/>
                <a:cs typeface="Calibri" pitchFamily="34" charset="-120"/>
              </a:rPr>
              <a:t>✓</a:t>
            </a:r>
            <a:endParaRPr lang="en-US" sz="2200" dirty="0"/>
          </a:p>
        </p:txBody>
      </p:sp>
      <p:sp>
        <p:nvSpPr>
          <p:cNvPr id="10" name="Text 8"/>
          <p:cNvSpPr/>
          <p:nvPr/>
        </p:nvSpPr>
        <p:spPr>
          <a:xfrm>
            <a:off x="1463040" y="5029200"/>
            <a:ext cx="10241280" cy="914400"/>
          </a:xfrm>
          <a:prstGeom prst="rect">
            <a:avLst/>
          </a:prstGeom>
          <a:noFill/>
          <a:ln/>
        </p:spPr>
        <p:txBody>
          <a:bodyPr wrap="square" rtlCol="0" anchor="ctr"/>
          <a:lstStyle/>
          <a:p>
            <a:pPr indent="0" marL="0">
              <a:lnSpc>
                <a:spcPct val="100000"/>
              </a:lnSpc>
              <a:buNone/>
            </a:pPr>
            <a:r>
              <a:rPr lang="en-US" sz="1700" b="1" dirty="0">
                <a:solidFill>
                  <a:srgbClr val="FFFFFF"/>
                </a:solidFill>
                <a:latin typeface="Calibri" pitchFamily="34" charset="0"/>
                <a:ea typeface="Calibri" pitchFamily="34" charset="-122"/>
                <a:cs typeface="Calibri" pitchFamily="34" charset="-120"/>
              </a:rPr>
              <a:t>NIV Modes  </a:t>
            </a:r>
            <a:pPr indent="0" marL="0">
              <a:lnSpc>
                <a:spcPct val="100000"/>
              </a:lnSpc>
              <a:buNone/>
            </a:pPr>
            <a:r>
              <a:rPr lang="en-US" sz="1400" dirty="0">
                <a:solidFill>
                  <a:srgbClr val="B9CCE4"/>
                </a:solidFill>
                <a:latin typeface="Calibri" pitchFamily="34" charset="0"/>
                <a:ea typeface="Calibri" pitchFamily="34" charset="-122"/>
                <a:cs typeface="Calibri" pitchFamily="34" charset="-120"/>
              </a:rPr>
              <a:t>CPAP vs BiPAP</a:t>
            </a:r>
            <a:endParaRPr lang="en-US" sz="1700" dirty="0"/>
          </a:p>
        </p:txBody>
      </p:sp>
      <p:sp>
        <p:nvSpPr>
          <p:cNvPr id="11" name="Text 9"/>
          <p:cNvSpPr/>
          <p:nvPr/>
        </p:nvSpPr>
        <p:spPr>
          <a:xfrm>
            <a:off x="548640" y="6126480"/>
            <a:ext cx="10058400" cy="365760"/>
          </a:xfrm>
          <a:prstGeom prst="rect">
            <a:avLst/>
          </a:prstGeom>
          <a:noFill/>
          <a:ln/>
        </p:spPr>
        <p:txBody>
          <a:bodyPr wrap="square" rtlCol="0" anchor="ctr"/>
          <a:lstStyle/>
          <a:p>
            <a:pPr indent="0" marL="0">
              <a:buNone/>
            </a:pPr>
            <a:r>
              <a:rPr lang="en-US" sz="1300" b="1" dirty="0">
                <a:solidFill>
                  <a:srgbClr val="7FA0C8"/>
                </a:solidFill>
                <a:latin typeface="Calibri" pitchFamily="34" charset="0"/>
                <a:ea typeface="Calibri" pitchFamily="34" charset="-122"/>
                <a:cs typeface="Calibri" pitchFamily="34" charset="-120"/>
              </a:rPr>
              <a:t>Next: Module 6</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2026-07-26T23:56:28Z</dcterms:created>
  <dcterms:modified xsi:type="dcterms:W3CDTF">2026-07-26T23:56:28Z</dcterms:modified>
</cp:coreProperties>
</file>