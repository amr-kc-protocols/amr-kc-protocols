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Indications for Ventilatory Support. Pick the right level of support — first time. CPAP for CHF. BiPAP for COPD. Invasive for failure. The evidence behind each and the contraindications that must not be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Non-invasive ventilation (NIV) delivers positive-pressure ventilation through a tightly-fitting mask rather than an endotracheal tube. In EMS, two indications dominate: acute cardiogenic pulmonary edema (treated with CPAP) and acute COPD exacerbation with hypercapnia (treated with BiPAP).
For acute pulmonary edema, the foundational evidence is Bersten et al. (NEJM 1991): 39 patients randomized to CPAP vs standard oxygen. Intubation rate dropped from 35% to 0% in the CPAP arm. A 2013 Cochrane review pooling more than 30 trials confirmed NIV reduces hospital mortality and intubation in cardiogenic pulmonary edema, with NNT roughly 4 to 7 to prevent one intubation.
For COPD exacerbation with hypercapnia, Brochard et al. (NEJM 1995) randomized 85 patients to BiPAP vs standard care. Intubation: 26% vs 74%. Mortality: 9% vs 29%. Cochrane meta-analyses confirm approximately a 50% relative reduction in both intubation and mortality.
EVIDENCE — Strong evidence: CPAP for CHF and BiPAP for COPD-with-hypercapnia are among the most evidence-based EMS interventions. Level I evidence. If your service doesn't carry NIV, advocate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Positive Airway Pressure (CPAP) is one steady pressure the whole cycle long — a doorstop wedged under the airway, holding it open the same amount whether the patient breathes in or out. The patient does all the breathing work; the machine just holds the baseline. In CHF, that baseline pushes alveolar fluid back into the capillaries, drops preload (by raising intrathoracic pressure), and reduces LV afterload. The combined effect is often dramatic.
Bilevel Positive Airway Pressure (BiPAP) adds a second, higher pressure on inspiration — like a spotter at the bench press who shoves the bar up each time you push and eases off as you lower it. The two pressures are IPAP (inspiratory) and EPAP (expiratory); their difference is the pressure support delivered with each breath. EPAP is the doorstop (it behaves like PEEP — holding alveoli open and overcoming auto-PEEP); IPAP is the spotter's shove, unloading the tired diaphragm. In COPD with hypercapnia, EPAP overcomes auto-PEEP while IPAP supports the diaphragm long enough for the patient to catch up.
Typical starting settings: CPAP at 5 to 10 cmH₂O with FiO₂ 100% initially, weaned. BiPAP at IPAP 10 / EPAP 5, FiO₂ titrated. Both require a good mask seal. Sit the patient up. Coach them to breathe with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 that is going to work shows signs of working within minutes. Improvement: falling respiratory rate, rising saturation, lengthening of speech, softening accessory muscle use, normalizing EtCO₂ trend. Vital signs should improve in 5 to 15 minutes. Mental status improves in parallel.
NIV that is not going to work also declares itself early. Persistent or rising RR, no change in saturation, declining mental status, vomiting, inability to tolerate the mask are all signs of failure.
Apply the 1-hour rule. If the patient has been on NIV for 60 minutes without clear improvement, escalate to invasive ventilation. Continuing in a non-improving patient delays intubation under increasingly poor conditions — by the time the team gives up, the patient is often hypoxic, hypotensive, and exhausted.
PEARL — Sit them up: Upright posture (head of bed 30°+) improves functional residual capacity and reduces work of breathing. Always sit your NIV and your pre-RSI patients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ABSOLUTE contraindications must be respected.
1. Inability to protect the airway — GCS ≤ 8, no gag, active vomiting, copious secretions. NIV in such a patient is a comfortable way to deliver gastric contents into the lung.
2. Facial trauma or severe deformity preventing mask seal.
3. Hemodynamic instability or peri-arrest state. The time required to set up NIV is wasted on a patient who needs definitive airway control.
4. Pneumothorax (until decompressed). Positive pressure can tension a small PTX into a fatal one.
5. Cardiac or respiratory arrest. Bag-mask ventilation and intubation are the only acceptable options.
When in doubt: secure the airway.
PEARL — Vomiting on NIV: If a patient on NIV begins to vomit, remove the mask immediately, suction aggressively, and prepare to secure the airway. Most protocols treat any vomiting episode as an absolute contraindication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to invasive mechanical ventilation when:
1. NIV is failing after a fair trial (typically 30 to 60 minutes; maximum 2 hours).
2. GCS ≤ 8 or unable to protect airway.
3. Apnea or agonal respirations.
4. Refractory hypoxia despite high-FiO₂ NIV.
5. Hemodynamic instability requiring control of work of breathing.
6. Anticipated clinical course will deteriorate — severe burn with airway involvement, anaphylaxis with airway swelling.
Prehospital RSI windows are short. Once you have paralyzed a patient, you are committed to managing the airway and the ventilator for the duration of the transport. Set up deliberately and pre-oxygenate aggressively.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Pre-oxygenation before RSI is topping off the tank before a free-dive: you flush the nitrogen out of the lung's reservoir — the functional residual capacity (FRC) — and fill it with oxygen, so the patient can hold that breath through the apnea of intubation far longer before desaturating. In a healthy adult with a good seal and high FiO₂, safe apnea time (before SpO₂ falls below 90%) stretches to approximately 8 minutes. With moderate disease, 3 to 5 minutes. With severe ARDS or obesity, sometimes less than 60 seconds.
Standard technique: 3 minutes of tidal-volume breathing on a tight-sealed NRB at flush rate (15 L/min or higher). Alternative: 8 vital-capacity breaths. In a hypoxic patient who cannot achieve adequate pre-oxygenation by these methods, NIV (CPAP or BiPAP) for 3 to 5 minutes prior to the paralytic is the best option.
Apneic oxygenation extends safe apnea further. A nasal cannula at 15 L/min applied during the laryngoscopy itself continues to deliver oxygen during the apneic interval. This technique — NoDESAT — adds several minutes of safe apnea time, particularly in obese and pediatric patients. Position the patient with the head elevated 20 to 30 degrees for both pre-oxygenation and laryngoscopy.
PEARL — NoDESAT: Place a nasal cannula at 15 L/min on the patient during pre-oxygenation and leave it in place during laryngoscopy. The continued oxygen delivery extends safe apnea time. It is the cheapest and most effective single airway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3</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3</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Indications for Ventilatory Support</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Pick the right level of support — first time. CPAP for CHF. BiPAP for COPD. Invasive for failure. The evidence behind each and the contraindications that must not be missed.</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Day 1 · Foundations</a:t>
            </a:r>
            <a:pPr indent="0" marL="0">
              <a:buNone/>
            </a:pPr>
            <a:r>
              <a:rPr lang="en-US" sz="1300" dirty="0">
                <a:solidFill>
                  <a:srgbClr val="8AA6C8"/>
                </a:solidFill>
                <a:latin typeface="Calibri" pitchFamily="34" charset="0"/>
                <a:ea typeface="Calibri" pitchFamily="34" charset="-122"/>
                <a:cs typeface="Calibri" pitchFamily="34" charset="-120"/>
              </a:rPr>
              <a:t>   ·   ~40 min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NIV Indications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Non-Invasive Ventilation Is the Right Tool</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The Two Flavors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CPAP vs BiPAP</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Titration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How to Make NIV Work — and Recognize When It Doesn't</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Contraindications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When NIV Is the WRONG Tool</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Invasive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Indications for Endotracheal Intubation</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Pre-Oxygenation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Buying Yourself Eight Minutes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3.1 · NIV Indications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Non-Invasive Ventilation Is the Right Tool</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3.1</a:t>
            </a:r>
            <a:endParaRPr lang="en-US" sz="2600" dirty="0"/>
          </a:p>
        </p:txBody>
      </p:sp>
      <p:sp>
        <p:nvSpPr>
          <p:cNvPr id="5" name="Text 3"/>
          <p:cNvSpPr/>
          <p:nvPr/>
        </p:nvSpPr>
        <p:spPr>
          <a:xfrm>
            <a:off x="548640" y="2148840"/>
            <a:ext cx="630936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Non-invasive ventilation (NIV) delivers positive-pressure ventilation through a tightly-fitting mask rather than an endotracheal tube.</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For acute pulmonary edema, the foundational evidence is Bersten et al.</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For COPD exacerbation with hypercapnia, Brochard et al.</a:t>
            </a:r>
            <a:endParaRPr lang="en-US" sz="15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Strong evidence</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CPAP for CHF and BiPAP for COPD-with-hypercapnia are among the most evidence-based EMS interventions. Level I evidence. If your service doesn't carry NIV, advocate for 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3.2 · The Two Flavors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CPAP vs BiPAP</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3.2</a:t>
            </a:r>
            <a:endParaRPr lang="en-US" sz="2600" dirty="0"/>
          </a:p>
        </p:txBody>
      </p:sp>
      <p:sp>
        <p:nvSpPr>
          <p:cNvPr id="5" name="Text 3"/>
          <p:cNvSpPr/>
          <p:nvPr/>
        </p:nvSpPr>
        <p:spPr>
          <a:xfrm>
            <a:off x="548640" y="2148840"/>
            <a:ext cx="1005840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Continuous Positive Airway Pressure (CPAP) is one steady pressure the whole cycle long — a doorstop wedged under the airway, holding it open the same…</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Bilevel Positive Airway Pressure (BiPAP) adds a second, higher pressure on inspiration — like a spotter at the bench press who shoves the bar up each time…</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Typical starting settings: CPAP at 5 to 10 cmH₂O with FiO₂ 100% initially, weaned.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3.3 · Titration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How to Make NIV Work — and Recognize When It Doesn't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3.3</a:t>
            </a:r>
            <a:endParaRPr lang="en-US" sz="2600" dirty="0"/>
          </a:p>
        </p:txBody>
      </p:sp>
      <p:sp>
        <p:nvSpPr>
          <p:cNvPr id="5" name="Text 3"/>
          <p:cNvSpPr/>
          <p:nvPr/>
        </p:nvSpPr>
        <p:spPr>
          <a:xfrm>
            <a:off x="548640" y="2148840"/>
            <a:ext cx="630936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NIV that is going to work shows signs of working within minutes.</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NIV that is not going to work also declares itself early.</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Apply the 1-hour rule.</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Sit them up</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Upright posture (head of bed 30°+) improves functional residual capacity and reduces work of breathing. Always sit your NIV and your pre-RSI patients up.</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3.4 · Contraindications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When NIV Is the WRONG Tool</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3.4</a:t>
            </a:r>
            <a:endParaRPr lang="en-US" sz="2600" dirty="0"/>
          </a:p>
        </p:txBody>
      </p:sp>
      <p:sp>
        <p:nvSpPr>
          <p:cNvPr id="5" name="Text 3"/>
          <p:cNvSpPr/>
          <p:nvPr/>
        </p:nvSpPr>
        <p:spPr>
          <a:xfrm>
            <a:off x="548640" y="2148840"/>
            <a:ext cx="630936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ABSOLUTE contraindications must be respected.</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1.</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2.</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3.</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4.</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Vomiting on NIV</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If a patient on NIV begins to vomit, remove the mask immediately, suction aggressively, and prepare to secure the airway. Most protocols treat any vomiting episode as an absolute contraindication going forward.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3.5 · Invasive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Indications for Endotracheal Intubation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3.5</a:t>
            </a:r>
            <a:endParaRPr lang="en-US" sz="2600" dirty="0"/>
          </a:p>
        </p:txBody>
      </p:sp>
      <p:sp>
        <p:nvSpPr>
          <p:cNvPr id="5" name="Text 3"/>
          <p:cNvSpPr/>
          <p:nvPr/>
        </p:nvSpPr>
        <p:spPr>
          <a:xfrm>
            <a:off x="548640" y="2148840"/>
            <a:ext cx="1005840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Move to invasive mechanical ventilation when:</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1.</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2.</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3.</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4.</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3.6 · Pre-Oxygenation</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Buying Yourself Eight Minutes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3.6</a:t>
            </a:r>
            <a:endParaRPr lang="en-US" sz="2600" dirty="0"/>
          </a:p>
        </p:txBody>
      </p:sp>
      <p:sp>
        <p:nvSpPr>
          <p:cNvPr id="5" name="Text 3"/>
          <p:cNvSpPr/>
          <p:nvPr/>
        </p:nvSpPr>
        <p:spPr>
          <a:xfrm>
            <a:off x="548640" y="2148840"/>
            <a:ext cx="6309360" cy="4114800"/>
          </a:xfrm>
          <a:prstGeom prst="rect">
            <a:avLst/>
          </a:prstGeom>
          <a:noFill/>
          <a:ln/>
        </p:spPr>
        <p:txBody>
          <a:bodyPr wrap="square" rtlCol="0" anchor="t"/>
          <a:lstStyle/>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Pre-oxygenation before RSI is topping off the tank before a free-dive: you flush the nitrogen out of the lung's reservoir — the functional residual…</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Standard technique: 3 minutes of tidal-volume breathing on a tight-sealed NRB at flush rate (15 L/min or higher).</a:t>
            </a:r>
            <a:endParaRPr lang="en-US" sz="1550" dirty="0"/>
          </a:p>
          <a:p>
            <a:pPr marL="177800" indent="-177800">
              <a:lnSpc>
                <a:spcPct val="100000"/>
              </a:lnSpc>
              <a:spcAft>
                <a:spcPts val="900"/>
              </a:spcAft>
              <a:buSzPct val="100000"/>
              <a:buChar char="•"/>
            </a:pPr>
            <a:r>
              <a:rPr lang="en-US" sz="1550" dirty="0">
                <a:solidFill>
                  <a:srgbClr val="1B2433"/>
                </a:solidFill>
                <a:latin typeface="Calibri" pitchFamily="34" charset="0"/>
                <a:ea typeface="Calibri" pitchFamily="34" charset="-122"/>
                <a:cs typeface="Calibri" pitchFamily="34" charset="-120"/>
              </a:rPr>
              <a:t>Apneic oxygenation extends safe apnea further.</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NoDESAT</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Place a nasal cannula at 15 L/min on the patient during pre-oxygenation and leave it in place during laryngoscopy. The continued oxygen delivery extends safe apnea time. It is the cheapest and most effective single airway technique.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Pick the Right Support</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CPAP · BiPAP · Invasive Ventilation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Just put a non-rebreather on her</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68-year-old female, 80 kg, 5'4". HFrEF, atrial fibrillation, type 2…</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p:cNvSpPr/>
          <p:nvPr/>
        </p:nvSpPr>
        <p:spPr>
          <a:xfrm>
            <a:off x="1874520" y="5056632"/>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vent-ltv1200.html?scenario=niv-vs-tube  —  Make the indication call on an awake COPD patient — BiPAP trial vs the tube — then set…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Sit them up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Upright posture (head of bed 30°+) improves functional residual capacity and reduces work of breathing. Always sit your NIV and your pre-RSI…</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Vomiting on NIV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If a patient on NIV begins to vomit, remove the mask immediately, suction aggressively, and prepare to secure the airway. Most protocols treat any…</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NoDESAT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Place a nasal cannula at 15 L/min on the patient during pre-oxygenation and leave it in place during laryngoscopy. The continued oxygen delivery…</a:t>
            </a:r>
            <a:endParaRPr lang="en-US" sz="1700" dirty="0"/>
          </a:p>
        </p:txBody>
      </p:sp>
      <p:sp>
        <p:nvSpPr>
          <p:cNvPr id="9" name="Text 7"/>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2026-07-26T23:56:28Z</dcterms:created>
  <dcterms:modified xsi:type="dcterms:W3CDTF">2026-07-26T23:56:28Z</dcterms:modified>
</cp:coreProperties>
</file>